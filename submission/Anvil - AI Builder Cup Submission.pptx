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500" b="1">
                <a:latin typeface="Arial"/>
              </a:rPr>
              <a:t> Team Anvil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5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500" b="1">
                <a:latin typeface="Arial"/>
              </a:rPr>
              <a:t> Adhish Sekar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2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200" b="0">
                <a:latin typeface="Arial"/>
              </a:rPr>
              <a:t> How can enterprises let AI agents spend money on their behalf while guaranteeing that every action stays within what a human authorized? Track: Future of work and enterprise productivity.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3451D1"/>
                </a:solidFill>
                <a:latin typeface="Arial"/>
              </a:rPr>
              <a:t>Anvil: a mandate enforcement layer for autonomous business spending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1481328"/>
            <a:ext cx="859536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101828"/>
                </a:solidFill>
                <a:latin typeface="Arial"/>
              </a:rPr>
              <a:t>Anvil is the control layer between AI agents and company money. Finance signs a policy: limits, approved cities, notice and trip rules. When an employee plans a trip, a Gemini booking agent compares real offers over the A2A protocol, and Anvil audits every booking against the signed policy before any money moves: approve, send to a person, or block. A blocked agent is told exactly why and corrects itself. Approved bookings get a signed receipt verified with Google's AP2 SDK, every Gemini call is traced with its input and output, and every decision is written to a tamper-evident log.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667085"/>
                </a:solidFill>
                <a:latin typeface="Arial"/>
              </a:rPr>
              <a:t>It starts with travel and expense. The same engine governs software licences, procurement and cloud spend.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3200400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451D1"/>
                </a:solidFill>
                <a:latin typeface="Arial"/>
              </a:rPr>
              <a:t>Judges intent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Gemini reads what a person actually approved, not just prices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172968" y="3200400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451D1"/>
                </a:solidFill>
                <a:latin typeface="Arial"/>
              </a:rPr>
              <a:t>Enforces in code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The verdict is applied outside the model, so text can never override it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071616" y="3200400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3451D1"/>
                </a:solidFill>
                <a:latin typeface="Arial"/>
              </a:rPr>
              <a:t>Proves every decision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Signed receipts, AP2 chains, hash-chained log, full AI traces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4320" y="406908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Measured live: 19 of 19 violations caught vs 10 of 19 for a rules-only check, with 0 false blocks. A second domain (software purchases) scored 8 of 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Opportunities: how is it different, how does it solve the problem, what is unique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274320" y="1143000"/>
          <a:ext cx="859536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2651760"/>
                <a:gridCol w="420624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What it checks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What it misses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Budget caps and allowlists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Price, supplier, destination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Class or refund swaps, split charges, hidden add-ons, fake approvals: caught 10 of 19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LLM guardrails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Harmful or off-topic text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Whether a purchase matches one specific signed authorization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Google AP2 on its own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Who authorized a payment, amount and payee limits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Semantic drift: a $590 business-class fare at an approved price passes its limits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Anvil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Intent vs a signed policy, AP2 limits as a second gate, self-correction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01828"/>
                          </a:solidFill>
                          <a:latin typeface="Arial"/>
                        </a:rPr>
                        <a:t>Prototype executor is simulated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274320" y="2761488"/>
            <a:ext cx="42062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3451D1"/>
                </a:solidFill>
                <a:latin typeface="Arial"/>
              </a:rPr>
              <a:t>How it solves the problem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Finance signs the rules; a person approves anything beyond them.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Gemini audits every booking's intent: approve, escalate or block.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Code enforces the verdict. Only approved or human-approved bookings get a receipt.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A blocked agent is told why, corrects itself, and is audited again.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Every decision and every Gemini call is recorded and can be re-verified.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3440" y="2761488"/>
            <a:ext cx="42062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3451D1"/>
                </a:solidFill>
                <a:latin typeface="Arial"/>
              </a:rPr>
              <a:t>What is unique (USP)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Semantic drift detection against a signed policy: 19/19 vs 10/19, no false blocks.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Closed loop: block, explain, self-correct, re-audit.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Two independent Google gates: Gemini for judgment, the AP2 SDK for limits.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It shows its work: every offer considered, the agent's reasoning, the exact AI input and output.</a:t>
            </a:r>
          </a:p>
          <a:p>
            <a:pPr marL="146304" indent="-146304">
              <a:spcAft>
                <a:spcPts val="200"/>
              </a:spcAft>
              <a:buChar char="•"/>
            </a:pPr>
            <a:r>
              <a:rPr sz="1000" b="0" i="0">
                <a:solidFill>
                  <a:srgbClr val="101828"/>
                </a:solidFill>
                <a:latin typeface="Arial"/>
              </a:rPr>
              <a:t>Measured, not asserted: 26 travel and 12 software scenarios, 6 adversarial.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74320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Plan and book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1481328"/>
            <a:ext cx="2788920" cy="3200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Trip planner: round trip or one way, 12 cities, real dates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Live estimate and policy warnings before you submit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Live Anvil Guard feed while the agent books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Day-by-day itinerary: flight times, cabs with from/to, stay, booking refs; print or save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Options the agent considered, and why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Withdraw a request; notified on decisions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172968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Enforce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172968" y="1481328"/>
            <a:ext cx="2788920" cy="3200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Signed policy; Gemini semantic audit with a plain-language reason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Enforcement in code, outside the model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Company trip rules: notice, trip length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AP2 SDK limits as a second gate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Self-correction loop on every block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Finance approves a whole trip in one decision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Free text never authorizes (prompt-injection resistant)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71616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Govern and prove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71616" y="1481328"/>
            <a:ext cx="2788920" cy="3200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Finance edits and signs the policy: versioned, with who, when and why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AI traces: exact input and output of every Gemini call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Hash-chained audit log, evidence pack export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Counterfactual receipts: what it would have cost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Kill switch and emergency stop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Role separation: operators cannot approve spend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Spend by cost centre, activity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28600" y="1188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01828"/>
                </a:solidFill>
                <a:latin typeface="Arial"/>
              </a:rPr>
              <a:t>1  Finance signs the policy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783080" y="1572768"/>
            <a:ext cx="22860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2011680" y="1188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01828"/>
                </a:solidFill>
                <a:latin typeface="Arial"/>
              </a:rPr>
              <a:t>2  Employee plans a trip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566160" y="1572768"/>
            <a:ext cx="22860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3794760" y="1188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01828"/>
                </a:solidFill>
                <a:latin typeface="Arial"/>
              </a:rPr>
              <a:t>3  Supplier agents return offers (A2A)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349240" y="1572768"/>
            <a:ext cx="22860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5577840" y="1188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01828"/>
                </a:solidFill>
                <a:latin typeface="Arial"/>
              </a:rPr>
              <a:t>4  Gemini agent picks one offer per leg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132320" y="1572768"/>
            <a:ext cx="228599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7360920" y="118872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3451D1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  Anvil audits each booking</a:t>
            </a:r>
          </a:p>
          <a:p>
            <a:pPr algn="ctr"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Arial"/>
              </a:rPr>
              <a:t>Gemini + trip rules + AP2 limits</a:t>
            </a:r>
          </a:p>
        </p:txBody>
      </p:sp>
      <p:cxnSp>
        <p:nvCxnSpPr>
          <p:cNvPr id="105" name="Connector 104"/>
          <p:cNvCxnSpPr/>
          <p:nvPr/>
        </p:nvCxnSpPr>
        <p:spPr>
          <a:xfrm flipH="1">
            <a:off x="1828800" y="1965960"/>
            <a:ext cx="6035040" cy="731520"/>
          </a:xfrm>
          <a:prstGeom prst="line">
            <a:avLst/>
          </a:prstGeom>
          <a:ln w="20320">
            <a:solidFill>
              <a:srgbClr val="067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548640" y="269748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067647"/>
                </a:solidFill>
                <a:latin typeface="Arial"/>
              </a:rPr>
              <a:t>APPROVE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Signed receipt and AP2 chain verified. Itinerary with booking refs.</a:t>
            </a:r>
          </a:p>
        </p:txBody>
      </p:sp>
      <p:cxnSp>
        <p:nvCxnSpPr>
          <p:cNvPr id="107" name="Connector 106"/>
          <p:cNvCxnSpPr/>
          <p:nvPr/>
        </p:nvCxnSpPr>
        <p:spPr>
          <a:xfrm flipH="1">
            <a:off x="4663440" y="1965960"/>
            <a:ext cx="3200400" cy="731520"/>
          </a:xfrm>
          <a:prstGeom prst="line">
            <a:avLst/>
          </a:prstGeom>
          <a:ln w="20320">
            <a:solidFill>
              <a:srgbClr val="B5470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3383280" y="269748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B54708"/>
                </a:solidFill>
                <a:latin typeface="Arial"/>
              </a:rPr>
              <a:t>ESCALATE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A finance manager approves or rejects the whole trip, with the reason on screen.</a:t>
            </a:r>
          </a:p>
        </p:txBody>
      </p:sp>
      <p:cxnSp>
        <p:nvCxnSpPr>
          <p:cNvPr id="109" name="Connector 108"/>
          <p:cNvCxnSpPr/>
          <p:nvPr/>
        </p:nvCxnSpPr>
        <p:spPr>
          <a:xfrm flipH="1">
            <a:off x="7498079" y="1965960"/>
            <a:ext cx="365761" cy="731520"/>
          </a:xfrm>
          <a:prstGeom prst="line">
            <a:avLst/>
          </a:prstGeom>
          <a:ln w="20320">
            <a:solidFill>
              <a:srgbClr val="B423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6217920" y="269748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FEF3F2"/>
          </a:solidFill>
          <a:ln w="127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B42318"/>
                </a:solidFill>
                <a:latin typeface="Arial"/>
              </a:rPr>
              <a:t>BLOCK</a:t>
            </a:r>
          </a:p>
          <a:p>
            <a:pPr algn="ctr">
              <a:spcAft>
                <a:spcPts val="100"/>
              </a:spcAft>
            </a:pPr>
            <a:r>
              <a:rPr sz="950" b="0" i="0">
                <a:solidFill>
                  <a:srgbClr val="101828"/>
                </a:solidFill>
                <a:latin typeface="Arial"/>
              </a:rPr>
              <a:t>The agent is told exactly why, picks a compliant offer, and it is audited again.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28600" y="4005072"/>
            <a:ext cx="8686800" cy="566928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101828"/>
                </a:solidFill>
                <a:latin typeface="Arial"/>
              </a:rPr>
              <a:t>Every step is written to a hash-chained audit log. Every Gemini call is traced with its input and output. A kill switch pauses any agent or revokes the policy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274320" y="1143000"/>
            <a:ext cx="27889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74320" y="1143000"/>
            <a:ext cx="2788920" cy="292608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Employee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7472" y="1508760"/>
            <a:ext cx="749808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3451D1"/>
                </a:solidFill>
                <a:latin typeface="Arial"/>
              </a:rPr>
              <a:t>My trips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Policy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170432" y="1508760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Plan a trip: dates, round trip, purpose, cost centre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70432" y="2551176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Live estimate and policy warnings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170432" y="3593591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Trip cards: itinerary, status, options considered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172968" y="1143000"/>
            <a:ext cx="27889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172968" y="1143000"/>
            <a:ext cx="2788920" cy="292608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Finance manager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246120" y="1508760"/>
            <a:ext cx="749808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3451D1"/>
                </a:solidFill>
                <a:latin typeface="Arial"/>
              </a:rPr>
              <a:t>Approvals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My trips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Activity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Spend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Policy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069079" y="1508760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Trip approval card: itinerary, reason, Approve all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069079" y="2551176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Spend by cost centre; emergency stop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069079" y="3593591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Policy editor and version history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071616" y="1143000"/>
            <a:ext cx="278892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71616" y="1143000"/>
            <a:ext cx="2788920" cy="292608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Platform operator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44768" y="1508760"/>
            <a:ext cx="749808" cy="3063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3451D1"/>
                </a:solidFill>
                <a:latin typeface="Arial"/>
              </a:rPr>
              <a:t>Overview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Agents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Audit trail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AI traces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Quality</a:t>
            </a:r>
          </a:p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667085"/>
                </a:solidFill>
                <a:latin typeface="Arial"/>
              </a:rPr>
              <a:t>Demo studio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967727" y="1508760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Anvil Guard overview, live decisions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967727" y="2551176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Pause an agent; verify or break the chain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967727" y="3593591"/>
            <a:ext cx="1819656" cy="95097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AI traces: exact input and output of each 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274320" y="128016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101828"/>
                </a:solidFill>
                <a:latin typeface="Arial"/>
              </a:rPr>
              <a:t>Browser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Firebase Hosting: three role workspaces (employee, finance, operator)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697480" y="11887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345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451D1"/>
                </a:solidFill>
                <a:latin typeface="Arial"/>
              </a:rPr>
              <a:t>Cloud Run: anvil (Flask API)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788920" y="1572768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Booking agent (A2A client)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434840" y="1572768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Anvil Guard: audit, trip rules, AP2 gate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788920" y="23774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Policy, approvals, controls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434840" y="2377440"/>
            <a:ext cx="1554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Evidence, traces, hash chain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720840" y="128016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101828"/>
                </a:solidFill>
                <a:latin typeface="Arial"/>
              </a:rPr>
              <a:t>Cloud Run: anvil-suppliers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A2A agents (Agent Cards): flight, hotel, transport; 12 cities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40080" y="36576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ECFDF3"/>
          </a:solidFill>
          <a:ln w="12700">
            <a:solidFill>
              <a:srgbClr val="067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067647"/>
                </a:solidFill>
                <a:latin typeface="Arial"/>
              </a:rPr>
              <a:t>Firestore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hash-chained audit log, policy versions, AI traces, controls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11880" y="36576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AEB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B54708"/>
                </a:solidFill>
                <a:latin typeface="Arial"/>
              </a:rPr>
              <a:t>Vertex AI: Gemini 2.5 Flash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plan, audit and correct calls, JSON output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0" y="365760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101828"/>
                </a:solidFill>
                <a:latin typeface="Arial"/>
              </a:rPr>
              <a:t>Secret Manager + AP2 SDK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101828"/>
                </a:solidFill>
                <a:latin typeface="Arial"/>
              </a:rPr>
              <a:t>orchestrator key; signed mandate chains verified per booking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2103120" y="1828800"/>
            <a:ext cx="59436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126480" y="1828800"/>
            <a:ext cx="59436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6126480" y="2103120"/>
            <a:ext cx="594360" cy="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846320" y="3200400"/>
            <a:ext cx="0" cy="45720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2286000" y="3200400"/>
            <a:ext cx="1005840" cy="45720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669280" y="3200400"/>
            <a:ext cx="1645920" cy="457200"/>
          </a:xfrm>
          <a:prstGeom prst="line">
            <a:avLst/>
          </a:prstGeom>
          <a:ln w="20320">
            <a:solidFill>
              <a:srgbClr val="3451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14400" y="2423160"/>
            <a:ext cx="0" cy="1234440"/>
          </a:xfrm>
          <a:prstGeom prst="line">
            <a:avLst/>
          </a:prstGeom>
          <a:ln w="20320">
            <a:solidFill>
              <a:srgbClr val="0676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2011680" y="148132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0" i="0">
                <a:solidFill>
                  <a:srgbClr val="667085"/>
                </a:solidFill>
                <a:latin typeface="Arial"/>
              </a:rPr>
              <a:t>HTTPS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148132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0" i="0">
                <a:solidFill>
                  <a:srgbClr val="667085"/>
                </a:solidFill>
                <a:latin typeface="Arial"/>
              </a:rPr>
              <a:t>A2A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0120" y="2834640"/>
            <a:ext cx="1463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0" i="0">
                <a:solidFill>
                  <a:srgbClr val="067647"/>
                </a:solidFill>
                <a:latin typeface="Arial"/>
              </a:rPr>
              <a:t>live feed (read-only)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274320" y="1143000"/>
          <a:ext cx="8595360" cy="33284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3337560"/>
                <a:gridCol w="39319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Google AI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Gemini 2.5 Flash on Vertex AI (google-genai SDK)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Booking agent, intent auditor, corrector: structured JSON, temperature 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Agent protocols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A2A (official a2a-sdk) and AP2 V2 SDK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Supplier discovery over Agent Cards; signed mandate chains verified per booking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Google Cloud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Cloud Run (2 services), Firestore, Firebase Hosting, Secret Manager, Cloud Build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API and agents; hash-chained log, policy versions and AI traces, live feed; web app; signing key; source deploys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Python, Flask + gunicorn, jwcrypto / cryptography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HTTP API, streaming runs, enforcement, signed policy, SD-JWT mandates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Static HTML, CSS and JavaScript (no build), Firebase JS SDK, SVG and CSS 3D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Three role workspaces, live Anvil Guard feed, itinerary, AI traces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About 340 automated checks in two modes, browser tests (Playwright), A2A interop test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Regression safety; role flows, phone layouts, real-model smoke tests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274320" y="1143000"/>
          <a:ext cx="8595360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2743200"/>
                <a:gridCol w="29260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One Gemini audit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about $0.002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Measured tokens x Vertex AI list price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One five-leg trip (1 plan + 5 audits)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about $0.015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Same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10,000 audited bookings per month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about $20 of Gemini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10,000 x $0.002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Cloud Run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Scales to zero; one always-on instance about $7 to $8 a month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List-price estimate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Firestore, Hosting, Secret Manager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Free tier at demo scale; under $1 per 10,000 decisions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01828"/>
                          </a:solidFill>
                          <a:latin typeface="Arial"/>
                        </a:rPr>
                        <a:t>Third-party services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None: runs only on Google Cloud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01828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0" i="1">
                <a:solidFill>
                  <a:srgbClr val="667085"/>
                </a:solidFill>
                <a:latin typeface="Arial"/>
              </a:rPr>
              <a:t>Estimates from list prices, not billing data. A production deployment adds real supplier and payment integrations and single sign-on.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04_guard_d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0972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74320" y="26883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Live Anvil Guard: offers, pick, audit</a:t>
            </a:r>
          </a:p>
        </p:txBody>
      </p:sp>
      <p:pic>
        <p:nvPicPr>
          <p:cNvPr id="138" name="Picture 137" descr="08_trip_approv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10972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3172968" y="26883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Final itinerary with booking refs</a:t>
            </a:r>
          </a:p>
        </p:txBody>
      </p:sp>
      <p:pic>
        <p:nvPicPr>
          <p:cNvPr id="140" name="Picture 139" descr="07_approv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10972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6071616" y="26883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Finance approves a whole trip</a:t>
            </a:r>
          </a:p>
        </p:txBody>
      </p:sp>
      <p:pic>
        <p:nvPicPr>
          <p:cNvPr id="142" name="Picture 141" descr="12_ai_tra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29260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274320" y="45171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AI traces: exact Gemini input and output</a:t>
            </a:r>
          </a:p>
        </p:txBody>
      </p:sp>
      <p:pic>
        <p:nvPicPr>
          <p:cNvPr id="144" name="Picture 143" descr="10_policy_his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2968" y="29260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3172968" y="45171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Editable, versioned, signed policy</a:t>
            </a:r>
          </a:p>
        </p:txBody>
      </p:sp>
      <p:pic>
        <p:nvPicPr>
          <p:cNvPr id="146" name="Picture 145" descr="15_protected_b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2926080"/>
            <a:ext cx="2788920" cy="1568002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147" name="TextBox 146"/>
          <p:cNvSpPr txBox="1"/>
          <p:nvPr/>
        </p:nvSpPr>
        <p:spPr>
          <a:xfrm>
            <a:off x="6071616" y="4517136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850" b="0" i="0">
                <a:solidFill>
                  <a:srgbClr val="667085"/>
                </a:solidFill>
                <a:latin typeface="Arial"/>
              </a:rPr>
              <a:t>Blocked, self-corrected, re-audited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274320" y="1115568"/>
          <a:ext cx="8595360" cy="31272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834640"/>
                <a:gridCol w="33832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How it was measured</a:t>
                      </a:r>
                    </a:p>
                  </a:txBody>
                  <a:tcPr marL="54864" marR="54864" marT="22860" marB="22860" anchor="ctr">
                    <a:solidFill>
                      <a:srgbClr val="3451D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Violations caught (travel)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19 of 19 (rules-only baseline: 10 of 19)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26 scenarios x 3 live Gemini repeats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False blocks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0 of 7 legitimate actions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Same set, including exactly-at-the-limit cases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Stability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26 of 26 verdicts identical across repeats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Temperature 0, live Gemini, none served from cache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Adversarial scenarios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6 of 6 caught (rules-only: 4 of 6)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Fake approvals, authority claims, prompt injection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Second domain (software)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8 of 8 (rules-only: 6 of 8), 0 false blocks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12 scenarios x 3 repeats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Decision latency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Median about 3 s per audit (live traces: 2.8 to 3.4 s)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Per-call telemetry, shown on the AI traces page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Cost per audit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About $0.002 (estimate)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Tokens x Vertex AI list price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01828"/>
                          </a:solidFill>
                          <a:latin typeface="Arial"/>
                        </a:rPr>
                        <a:t>Load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8 concurrent runs in about 34 s; audit chain intact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01828"/>
                          </a:solidFill>
                          <a:latin typeface="Arial"/>
                        </a:rPr>
                        <a:t>Live test on Cloud Run</a:t>
                      </a:r>
                    </a:p>
                  </a:txBody>
                  <a:tcPr marL="54864" marR="54864" marT="22860" marB="2286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0" i="1">
                <a:solidFill>
                  <a:srgbClr val="667085"/>
                </a:solidFill>
                <a:latin typeface="Arial"/>
              </a:rPr>
              <a:t>The scenarios were written and labelled by our team: strong evidence, not an independent benchmark.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274320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Built beyond the core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74320" y="1481328"/>
            <a:ext cx="2788920" cy="31089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Official A2A client and AP2 SDK in the product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Three role workspaces with separation of duties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Editable, signed, versioned policy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AI traces page and itinerary printout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Unprotected-vs-protected contrast; guided demo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Second domain proven (software purchases)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POST /v1/authorize for any agent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172968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172968" y="1481328"/>
            <a:ext cx="2788920" cy="31089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Company single sign-on; server-enforced roles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Real supplier and payment integrations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Approved destinations per grade; line-manager chain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Anvil as an SDK or MCP tool for ADK and LangChain agents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Approvals and alerts by email or chat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Cancel or change an approved trip; expense claims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KMS-backed signing; per-tenant chains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71616" y="1143000"/>
            <a:ext cx="2788920" cy="310896"/>
          </a:xfrm>
          <a:prstGeom prst="roundRect">
            <a:avLst>
              <a:gd name="adj" fmla="val 20000"/>
            </a:avLst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Limits we state openly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071616" y="1481328"/>
            <a:ext cx="2788920" cy="31089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The executor is simulated in the prototype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The demo sign-in is UI-only; the API is open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AP2 payment data are demo values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The log is tamper-evident, not tamper-proof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Scenarios are team-written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100" b="0" i="0">
                <a:solidFill>
                  <a:srgbClr val="101828"/>
                </a:solidFill>
                <a:latin typeface="Arial"/>
              </a:rPr>
              <a:t>Flight and hotel data are mock supplier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3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sz="1300" b="1">
                <a:solidFill>
                  <a:srgbClr val="3451D1"/>
                </a:solidFill>
                <a:latin typeface="Arial"/>
              </a:rPr>
              <a:t>:  https://github.com/Adhi1402/anvil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3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sz="1300" b="1">
                <a:solidFill>
                  <a:srgbClr val="B42318"/>
                </a:solidFill>
                <a:latin typeface="Arial"/>
              </a:rPr>
              <a:t>:  PASTE YOUR VIDEO LINK HERE after uploading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3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sz="1300" b="1">
                <a:solidFill>
                  <a:srgbClr val="3451D1"/>
                </a:solidFill>
                <a:latin typeface="Arial"/>
              </a:rPr>
              <a:t>:  https://dazzling-lodge-511607-m0.web.app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274320" y="2606040"/>
            <a:ext cx="85953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3451D1"/>
                </a:solidFill>
                <a:latin typeface="Arial"/>
              </a:rPr>
              <a:t>How to try it (about two minutes)</a:t>
            </a:r>
          </a:p>
          <a:p>
            <a:pPr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101828"/>
                </a:solidFill>
                <a:latin typeface="Arial"/>
              </a:rPr>
              <a:t>Open the product link and choose a person: Rahul (employee), Adhish Sekar (finance manager) or Swathy S (platform operator), or continue as a guest judge and switch roles with 'View as'.</a:t>
            </a:r>
          </a:p>
          <a:p>
            <a:pPr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101828"/>
                </a:solidFill>
                <a:latin typeface="Arial"/>
              </a:rPr>
              <a:t>As Rahul: Plan a trip (leave in under 7 days to see an approval request). As Adhish: approve the whole trip, or edit the policy. As Swathy: open AI traces to see the exact Gemini input and output.</a:t>
            </a:r>
          </a:p>
          <a:p>
            <a:pPr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667085"/>
                </a:solidFill>
                <a:latin typeface="Arial"/>
              </a:rPr>
              <a:t>The first request after a quiet period can take 10 to 20 seconds.</a:t>
            </a:r>
          </a:p>
          <a:p>
            <a:pPr marL="146304" indent="-146304">
              <a:spcAft>
                <a:spcPts val="400"/>
              </a:spcAft>
              <a:buChar char="•"/>
            </a:pPr>
            <a:r>
              <a:rPr sz="1050" b="0" i="0">
                <a:solidFill>
                  <a:srgbClr val="667085"/>
                </a:solidFill>
                <a:latin typeface="Arial"/>
              </a:rPr>
              <a:t>Built on Firebase Hosting, Firestore, Cloud Run and Gemini (Vertex AI). Sign-in is a labelled demo; the spending executor is simulated.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74320" y="658368"/>
            <a:ext cx="8595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2000" b="0" i="0">
                <a:solidFill>
                  <a:srgbClr val="101828"/>
                </a:solidFill>
                <a:latin typeface="Arial"/>
              </a:rPr>
              <a:t>Three people, one governed workflow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12801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Rahul, employee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560320" y="1280160"/>
            <a:ext cx="6309360" cy="9144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01828"/>
                </a:solidFill>
                <a:latin typeface="Arial"/>
              </a:rPr>
              <a:t>Plans a trip: dates, round trip, cost centre. Anvil Guard compares offers; a Gemini agent books; every booking is audited. He gets a day-by-day itinerary.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274320" y="2359152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Adhish, finance manager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560320" y="2359152"/>
            <a:ext cx="6309360" cy="9144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01828"/>
                </a:solidFill>
                <a:latin typeface="Arial"/>
              </a:rPr>
              <a:t>Approves or rejects a whole trip that went beyond policy. Edits and signs the policy. Cannot approve his own requests.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274320" y="3438144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45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Swathy, platform operator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560320" y="3438144"/>
            <a:ext cx="6309360" cy="9144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01828"/>
                </a:solidFill>
                <a:latin typeface="Arial"/>
              </a:rPr>
              <a:t>Runs the agents: pauses one, reads the AI traces and the tamper-evident audit trail. Cannot release money or change limits.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74320" y="4507992"/>
            <a:ext cx="8595360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3451D1"/>
                </a:solidFill>
                <a:latin typeface="Arial"/>
              </a:rPr>
              <a:t>Anvil never lets text, a note or an agent's claim approve spending: only the signed policy and a person's decision 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