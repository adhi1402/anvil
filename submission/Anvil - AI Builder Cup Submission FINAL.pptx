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500">
                <a:latin typeface="Google Sans Flex"/>
                <a:ea typeface="Google Sans Flex"/>
                <a:cs typeface="Google Sans Flex"/>
                <a:sym typeface="Google Sans Flex"/>
              </a:rPr>
              <a:t>Team name: </a:t>
            </a:r>
            <a:r>
              <a:rPr sz="1500" b="1">
                <a:latin typeface="Arial"/>
              </a:rPr>
              <a:t> Team Anvil</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500">
                <a:latin typeface="Google Sans Flex"/>
                <a:ea typeface="Google Sans Flex"/>
                <a:cs typeface="Google Sans Flex"/>
                <a:sym typeface="Google Sans Flex"/>
              </a:rPr>
              <a:t>Team leader name: </a:t>
            </a:r>
            <a:r>
              <a:rPr sz="1500" b="1">
                <a:latin typeface="Arial"/>
              </a:rPr>
              <a:t> Adhish Sekar</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200">
                <a:latin typeface="Google Sans Flex"/>
                <a:ea typeface="Google Sans Flex"/>
                <a:cs typeface="Google Sans Flex"/>
                <a:sym typeface="Google Sans Flex"/>
              </a:rPr>
              <a:t>Problem Statement: </a:t>
            </a:r>
            <a:r>
              <a:rPr sz="1200" b="0">
                <a:latin typeface="Arial"/>
              </a:rPr>
              <a:t> How can enterprises let AI agents spend money on their behalf while guaranteeing that every action stays within what a human authorized? Track: Future of work and enterprise productivity.</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274320" y="1078992"/>
            <a:ext cx="8595360" cy="365760"/>
          </a:xfrm>
          <a:prstGeom prst="rect">
            <a:avLst/>
          </a:prstGeom>
          <a:noFill/>
        </p:spPr>
        <p:txBody>
          <a:bodyPr wrap="square" anchor="t" lIns="36576" rIns="36576" tIns="18288" bIns="18288">
            <a:spAutoFit/>
          </a:bodyPr>
          <a:lstStyle/>
          <a:p>
            <a:pPr>
              <a:spcAft>
                <a:spcPts val="200"/>
              </a:spcAft>
            </a:pPr>
            <a:r>
              <a:rPr sz="1500" b="1" i="0">
                <a:solidFill>
                  <a:srgbClr val="3451D1"/>
                </a:solidFill>
                <a:latin typeface="Arial"/>
              </a:rPr>
              <a:t>Anvil: the policy-enforcement engine for AI agents that spend company money</a:t>
            </a:r>
          </a:p>
        </p:txBody>
      </p:sp>
      <p:sp>
        <p:nvSpPr>
          <p:cNvPr id="73" name="TextBox 72"/>
          <p:cNvSpPr txBox="1"/>
          <p:nvPr/>
        </p:nvSpPr>
        <p:spPr>
          <a:xfrm>
            <a:off x="274320" y="1463040"/>
            <a:ext cx="5440680" cy="2011680"/>
          </a:xfrm>
          <a:prstGeom prst="rect">
            <a:avLst/>
          </a:prstGeom>
          <a:noFill/>
        </p:spPr>
        <p:txBody>
          <a:bodyPr wrap="square" anchor="t" lIns="36576" rIns="36576" tIns="18288" bIns="18288">
            <a:spAutoFit/>
          </a:bodyPr>
          <a:lstStyle/>
          <a:p>
            <a:pPr>
              <a:spcAft>
                <a:spcPts val="600"/>
              </a:spcAft>
            </a:pPr>
            <a:r>
              <a:rPr sz="1100" b="0" i="0">
                <a:solidFill>
                  <a:srgbClr val="101828"/>
                </a:solidFill>
                <a:latin typeface="Arial"/>
              </a:rPr>
              <a:t>AI agents are starting to act for the enterprise: booking travel, renewing software, buying cloud. Anvil is the engine that makes that safe. A person signs a mandate. For every action an agent proposes, Anvil checks it against the intent of that mandate with Gemini, enforces the hard limits in code (rules and Google's AP2 SDK), sends borderline cases to a person, blocks the rest, lets the agent correct itself, and records everything in a tamper-evident log.</a:t>
            </a:r>
          </a:p>
          <a:p>
            <a:pPr>
              <a:spcAft>
                <a:spcPts val="600"/>
              </a:spcAft>
            </a:pPr>
            <a:r>
              <a:rPr sz="1100" b="1" i="0">
                <a:solidFill>
                  <a:srgbClr val="3451D1"/>
                </a:solidFill>
                <a:latin typeface="Arial"/>
              </a:rPr>
              <a:t>The engine is domain-neutral. Our enterprise example is business trip booking; the same engine already governs software purchases.</a:t>
            </a:r>
          </a:p>
        </p:txBody>
      </p:sp>
      <p:sp>
        <p:nvSpPr>
          <p:cNvPr id="74" name="Rounded Rectangle 73"/>
          <p:cNvSpPr/>
          <p:nvPr/>
        </p:nvSpPr>
        <p:spPr>
          <a:xfrm>
            <a:off x="5897880" y="1481328"/>
            <a:ext cx="2971800" cy="1965960"/>
          </a:xfrm>
          <a:prstGeom prst="roundRect">
            <a:avLst>
              <a:gd name="adj" fmla="val 5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spcAft>
                <a:spcPts val="400"/>
              </a:spcAft>
            </a:pPr>
            <a:r>
              <a:rPr sz="1100" b="1" i="0">
                <a:solidFill>
                  <a:srgbClr val="3451D1"/>
                </a:solidFill>
                <a:latin typeface="Arial"/>
              </a:rPr>
              <a:t>Built for how enterprises work</a:t>
            </a:r>
          </a:p>
          <a:p>
            <a:pPr algn="l" marL="146304" indent="-146304">
              <a:spcAft>
                <a:spcPts val="500"/>
              </a:spcAft>
              <a:buChar char="•"/>
            </a:pPr>
            <a:r>
              <a:rPr sz="1050" b="0" i="0">
                <a:solidFill>
                  <a:srgbClr val="101828"/>
                </a:solidFill>
                <a:latin typeface="Arial"/>
              </a:rPr>
              <a:t>Finance-owned, signed policy with version history</a:t>
            </a:r>
          </a:p>
          <a:p>
            <a:pPr algn="l" marL="146304" indent="-146304">
              <a:spcAft>
                <a:spcPts val="500"/>
              </a:spcAft>
              <a:buChar char="•"/>
            </a:pPr>
            <a:r>
              <a:rPr sz="1050" b="0" i="0">
                <a:solidFill>
                  <a:srgbClr val="101828"/>
                </a:solidFill>
                <a:latin typeface="Arial"/>
              </a:rPr>
              <a:t>Approvals with separation of duties</a:t>
            </a:r>
          </a:p>
          <a:p>
            <a:pPr algn="l" marL="146304" indent="-146304">
              <a:spcAft>
                <a:spcPts val="500"/>
              </a:spcAft>
              <a:buChar char="•"/>
            </a:pPr>
            <a:r>
              <a:rPr sz="1050" b="0" i="0">
                <a:solidFill>
                  <a:srgbClr val="101828"/>
                </a:solidFill>
                <a:latin typeface="Arial"/>
              </a:rPr>
              <a:t>Cost centres, spend views, activity export</a:t>
            </a:r>
          </a:p>
          <a:p>
            <a:pPr algn="l" marL="146304" indent="-146304">
              <a:spcAft>
                <a:spcPts val="500"/>
              </a:spcAft>
              <a:buChar char="•"/>
            </a:pPr>
            <a:r>
              <a:rPr sz="1050" b="0" i="0">
                <a:solidFill>
                  <a:srgbClr val="101828"/>
                </a:solidFill>
                <a:latin typeface="Arial"/>
              </a:rPr>
              <a:t>Audit evidence and a trace of every AI call</a:t>
            </a:r>
          </a:p>
          <a:p>
            <a:pPr algn="l" marL="146304" indent="-146304">
              <a:spcAft>
                <a:spcPts val="500"/>
              </a:spcAft>
              <a:buChar char="•"/>
            </a:pPr>
            <a:r>
              <a:rPr sz="1050" b="0" i="0">
                <a:solidFill>
                  <a:srgbClr val="101828"/>
                </a:solidFill>
                <a:latin typeface="Arial"/>
              </a:rPr>
              <a:t>Kill switch and emergency stop</a:t>
            </a:r>
          </a:p>
        </p:txBody>
      </p:sp>
      <p:sp>
        <p:nvSpPr>
          <p:cNvPr id="75" name="Rounded Rectangle 74"/>
          <p:cNvSpPr/>
          <p:nvPr/>
        </p:nvSpPr>
        <p:spPr>
          <a:xfrm>
            <a:off x="274320" y="3566160"/>
            <a:ext cx="278892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200" b="1" i="0">
                <a:solidFill>
                  <a:srgbClr val="3451D1"/>
                </a:solidFill>
                <a:latin typeface="Arial"/>
              </a:rPr>
              <a:t>Judges intent</a:t>
            </a:r>
          </a:p>
          <a:p>
            <a:pPr algn="ctr">
              <a:spcAft>
                <a:spcPts val="100"/>
              </a:spcAft>
            </a:pPr>
            <a:r>
              <a:rPr sz="950" b="0" i="0">
                <a:solidFill>
                  <a:srgbClr val="101828"/>
                </a:solidFill>
                <a:latin typeface="Arial"/>
              </a:rPr>
              <a:t>Gemini reads what a person actually approved, not just prices</a:t>
            </a:r>
          </a:p>
        </p:txBody>
      </p:sp>
      <p:sp>
        <p:nvSpPr>
          <p:cNvPr id="76" name="Rounded Rectangle 75"/>
          <p:cNvSpPr/>
          <p:nvPr/>
        </p:nvSpPr>
        <p:spPr>
          <a:xfrm>
            <a:off x="3172968" y="3566160"/>
            <a:ext cx="278892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200" b="1" i="0">
                <a:solidFill>
                  <a:srgbClr val="3451D1"/>
                </a:solidFill>
                <a:latin typeface="Arial"/>
              </a:rPr>
              <a:t>Enforces in code</a:t>
            </a:r>
          </a:p>
          <a:p>
            <a:pPr algn="ctr">
              <a:spcAft>
                <a:spcPts val="100"/>
              </a:spcAft>
            </a:pPr>
            <a:r>
              <a:rPr sz="950" b="0" i="0">
                <a:solidFill>
                  <a:srgbClr val="101828"/>
                </a:solidFill>
                <a:latin typeface="Arial"/>
              </a:rPr>
              <a:t>The verdict is applied outside the model, so text can never override it</a:t>
            </a:r>
          </a:p>
        </p:txBody>
      </p:sp>
      <p:sp>
        <p:nvSpPr>
          <p:cNvPr id="77" name="Rounded Rectangle 76"/>
          <p:cNvSpPr/>
          <p:nvPr/>
        </p:nvSpPr>
        <p:spPr>
          <a:xfrm>
            <a:off x="6071616" y="3566160"/>
            <a:ext cx="278892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200" b="1" i="0">
                <a:solidFill>
                  <a:srgbClr val="3451D1"/>
                </a:solidFill>
                <a:latin typeface="Arial"/>
              </a:rPr>
              <a:t>Proves every decision</a:t>
            </a:r>
          </a:p>
          <a:p>
            <a:pPr algn="ctr">
              <a:spcAft>
                <a:spcPts val="100"/>
              </a:spcAft>
            </a:pPr>
            <a:r>
              <a:rPr sz="950" b="0" i="0">
                <a:solidFill>
                  <a:srgbClr val="101828"/>
                </a:solidFill>
                <a:latin typeface="Arial"/>
              </a:rPr>
              <a:t>Signed receipts, AP2 chains, hash-chained log, full AI traces</a:t>
            </a:r>
          </a:p>
        </p:txBody>
      </p:sp>
      <p:sp>
        <p:nvSpPr>
          <p:cNvPr id="78" name="Rounded Rectangle 77"/>
          <p:cNvSpPr/>
          <p:nvPr/>
        </p:nvSpPr>
        <p:spPr>
          <a:xfrm>
            <a:off x="274320" y="4370832"/>
            <a:ext cx="8595360" cy="384048"/>
          </a:xfrm>
          <a:prstGeom prst="roundRect">
            <a:avLst>
              <a:gd name="adj" fmla="val 12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FFFFFF"/>
                </a:solidFill>
                <a:latin typeface="Arial"/>
              </a:rPr>
              <a:t>Measured live: 19 of 19 violations caught vs 10 of 19 for a rules-only check, with 0 false blocks. Second domain (software): 8 of 8.</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Google Sans Flex SemiBold"/>
                <a:ea typeface="Google Sans Flex SemiBold"/>
                <a:cs typeface="Google Sans Flex SemiBold"/>
                <a:sym typeface="Google Sans Flex SemiBold"/>
              </a:rPr>
              <a:t>Opportunities: how is it different, how does it solve the problem, what is unique</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p:txBody>
      </p:sp>
      <p:graphicFrame>
        <p:nvGraphicFramePr>
          <p:cNvPr id="80" name="Table 79"/>
          <p:cNvGraphicFramePr>
            <a:graphicFrameLocks noGrp="1"/>
          </p:cNvGraphicFramePr>
          <p:nvPr/>
        </p:nvGraphicFramePr>
        <p:xfrm>
          <a:off x="274320" y="1143000"/>
          <a:ext cx="8595360" cy="1371600"/>
        </p:xfrm>
        <a:graphic>
          <a:graphicData uri="http://schemas.openxmlformats.org/drawingml/2006/table">
            <a:tbl>
              <a:tblPr firstRow="0" bandRow="0">
                <a:tableStyleId>{5940675A-B579-460E-94D1-54222C63F5DA}</a:tableStyleId>
              </a:tblPr>
              <a:tblGrid>
                <a:gridCol w="1737360"/>
                <a:gridCol w="2651760"/>
                <a:gridCol w="4206240"/>
              </a:tblGrid>
              <a:tr h="274320">
                <a:tc>
                  <a:txBody>
                    <a:bodyPr wrap="square"/>
                    <a:lstStyle/>
                    <a:p>
                      <a:r>
                        <a:rPr sz="900" b="1" i="0">
                          <a:solidFill>
                            <a:srgbClr val="FFFFFF"/>
                          </a:solidFill>
                          <a:latin typeface="Arial"/>
                        </a:rPr>
                        <a:t>Approach</a:t>
                      </a:r>
                    </a:p>
                  </a:txBody>
                  <a:tcPr marL="54864" marR="54864" marT="22860" marB="22860" anchor="ctr">
                    <a:solidFill>
                      <a:srgbClr val="3451D1"/>
                    </a:solidFill>
                  </a:tcPr>
                </a:tc>
                <a:tc>
                  <a:txBody>
                    <a:bodyPr wrap="square"/>
                    <a:lstStyle/>
                    <a:p>
                      <a:r>
                        <a:rPr sz="900" b="1" i="0">
                          <a:solidFill>
                            <a:srgbClr val="FFFFFF"/>
                          </a:solidFill>
                          <a:latin typeface="Arial"/>
                        </a:rPr>
                        <a:t>What it checks</a:t>
                      </a:r>
                    </a:p>
                  </a:txBody>
                  <a:tcPr marL="54864" marR="54864" marT="22860" marB="22860" anchor="ctr">
                    <a:solidFill>
                      <a:srgbClr val="3451D1"/>
                    </a:solidFill>
                  </a:tcPr>
                </a:tc>
                <a:tc>
                  <a:txBody>
                    <a:bodyPr wrap="square"/>
                    <a:lstStyle/>
                    <a:p>
                      <a:r>
                        <a:rPr sz="900" b="1" i="0">
                          <a:solidFill>
                            <a:srgbClr val="FFFFFF"/>
                          </a:solidFill>
                          <a:latin typeface="Arial"/>
                        </a:rPr>
                        <a:t>What it misses</a:t>
                      </a:r>
                    </a:p>
                  </a:txBody>
                  <a:tcPr marL="54864" marR="54864" marT="22860" marB="22860" anchor="ctr">
                    <a:solidFill>
                      <a:srgbClr val="3451D1"/>
                    </a:solidFill>
                  </a:tcPr>
                </a:tc>
              </a:tr>
              <a:tr h="274320">
                <a:tc>
                  <a:txBody>
                    <a:bodyPr wrap="square"/>
                    <a:lstStyle/>
                    <a:p>
                      <a:r>
                        <a:rPr sz="900" b="0" i="0">
                          <a:solidFill>
                            <a:srgbClr val="101828"/>
                          </a:solidFill>
                          <a:latin typeface="Arial"/>
                        </a:rPr>
                        <a:t>Budget caps and allowlists</a:t>
                      </a:r>
                    </a:p>
                  </a:txBody>
                  <a:tcPr marL="54864" marR="54864" marT="22860" marB="22860" anchor="ctr">
                    <a:solidFill>
                      <a:srgbClr val="FFFFFF"/>
                    </a:solidFill>
                  </a:tcPr>
                </a:tc>
                <a:tc>
                  <a:txBody>
                    <a:bodyPr wrap="square"/>
                    <a:lstStyle/>
                    <a:p>
                      <a:r>
                        <a:rPr sz="900" b="0" i="0">
                          <a:solidFill>
                            <a:srgbClr val="101828"/>
                          </a:solidFill>
                          <a:latin typeface="Arial"/>
                        </a:rPr>
                        <a:t>Price, supplier, destination</a:t>
                      </a:r>
                    </a:p>
                  </a:txBody>
                  <a:tcPr marL="54864" marR="54864" marT="22860" marB="22860" anchor="ctr">
                    <a:solidFill>
                      <a:srgbClr val="FFFFFF"/>
                    </a:solidFill>
                  </a:tcPr>
                </a:tc>
                <a:tc>
                  <a:txBody>
                    <a:bodyPr wrap="square"/>
                    <a:lstStyle/>
                    <a:p>
                      <a:r>
                        <a:rPr sz="900" b="0" i="0">
                          <a:solidFill>
                            <a:srgbClr val="101828"/>
                          </a:solidFill>
                          <a:latin typeface="Arial"/>
                        </a:rPr>
                        <a:t>Class or refund swaps, split charges, hidden add-ons, fake approvals: caught 10 of 19</a:t>
                      </a:r>
                    </a:p>
                  </a:txBody>
                  <a:tcPr marL="54864" marR="54864" marT="22860" marB="22860" anchor="ctr">
                    <a:solidFill>
                      <a:srgbClr val="FFFFFF"/>
                    </a:solidFill>
                  </a:tcPr>
                </a:tc>
              </a:tr>
              <a:tr h="274320">
                <a:tc>
                  <a:txBody>
                    <a:bodyPr wrap="square"/>
                    <a:lstStyle/>
                    <a:p>
                      <a:r>
                        <a:rPr sz="900" b="0" i="0">
                          <a:solidFill>
                            <a:srgbClr val="101828"/>
                          </a:solidFill>
                          <a:latin typeface="Arial"/>
                        </a:rPr>
                        <a:t>LLM guardrails</a:t>
                      </a:r>
                    </a:p>
                  </a:txBody>
                  <a:tcPr marL="54864" marR="54864" marT="22860" marB="22860" anchor="ctr">
                    <a:solidFill>
                      <a:srgbClr val="F2F4F7"/>
                    </a:solidFill>
                  </a:tcPr>
                </a:tc>
                <a:tc>
                  <a:txBody>
                    <a:bodyPr wrap="square"/>
                    <a:lstStyle/>
                    <a:p>
                      <a:r>
                        <a:rPr sz="900" b="0" i="0">
                          <a:solidFill>
                            <a:srgbClr val="101828"/>
                          </a:solidFill>
                          <a:latin typeface="Arial"/>
                        </a:rPr>
                        <a:t>Harmful or off-topic text</a:t>
                      </a:r>
                    </a:p>
                  </a:txBody>
                  <a:tcPr marL="54864" marR="54864" marT="22860" marB="22860" anchor="ctr">
                    <a:solidFill>
                      <a:srgbClr val="F2F4F7"/>
                    </a:solidFill>
                  </a:tcPr>
                </a:tc>
                <a:tc>
                  <a:txBody>
                    <a:bodyPr wrap="square"/>
                    <a:lstStyle/>
                    <a:p>
                      <a:r>
                        <a:rPr sz="900" b="0" i="0">
                          <a:solidFill>
                            <a:srgbClr val="101828"/>
                          </a:solidFill>
                          <a:latin typeface="Arial"/>
                        </a:rPr>
                        <a:t>Whether a purchase matches one specific signed authorization</a:t>
                      </a:r>
                    </a:p>
                  </a:txBody>
                  <a:tcPr marL="54864" marR="54864" marT="22860" marB="22860" anchor="ctr">
                    <a:solidFill>
                      <a:srgbClr val="F2F4F7"/>
                    </a:solidFill>
                  </a:tcPr>
                </a:tc>
              </a:tr>
              <a:tr h="274320">
                <a:tc>
                  <a:txBody>
                    <a:bodyPr wrap="square"/>
                    <a:lstStyle/>
                    <a:p>
                      <a:r>
                        <a:rPr sz="900" b="0" i="0">
                          <a:solidFill>
                            <a:srgbClr val="101828"/>
                          </a:solidFill>
                          <a:latin typeface="Arial"/>
                        </a:rPr>
                        <a:t>Google AP2 on its own</a:t>
                      </a:r>
                    </a:p>
                  </a:txBody>
                  <a:tcPr marL="54864" marR="54864" marT="22860" marB="22860" anchor="ctr">
                    <a:solidFill>
                      <a:srgbClr val="FFFFFF"/>
                    </a:solidFill>
                  </a:tcPr>
                </a:tc>
                <a:tc>
                  <a:txBody>
                    <a:bodyPr wrap="square"/>
                    <a:lstStyle/>
                    <a:p>
                      <a:r>
                        <a:rPr sz="900" b="0" i="0">
                          <a:solidFill>
                            <a:srgbClr val="101828"/>
                          </a:solidFill>
                          <a:latin typeface="Arial"/>
                        </a:rPr>
                        <a:t>Who authorized a payment, amount and payee limits</a:t>
                      </a:r>
                    </a:p>
                  </a:txBody>
                  <a:tcPr marL="54864" marR="54864" marT="22860" marB="22860" anchor="ctr">
                    <a:solidFill>
                      <a:srgbClr val="FFFFFF"/>
                    </a:solidFill>
                  </a:tcPr>
                </a:tc>
                <a:tc>
                  <a:txBody>
                    <a:bodyPr wrap="square"/>
                    <a:lstStyle/>
                    <a:p>
                      <a:r>
                        <a:rPr sz="900" b="0" i="0">
                          <a:solidFill>
                            <a:srgbClr val="101828"/>
                          </a:solidFill>
                          <a:latin typeface="Arial"/>
                        </a:rPr>
                        <a:t>Semantic drift: a $590 business-class fare at an approved price passes its limits</a:t>
                      </a:r>
                    </a:p>
                  </a:txBody>
                  <a:tcPr marL="54864" marR="54864" marT="22860" marB="22860" anchor="ctr">
                    <a:solidFill>
                      <a:srgbClr val="FFFFFF"/>
                    </a:solidFill>
                  </a:tcPr>
                </a:tc>
              </a:tr>
              <a:tr h="274320">
                <a:tc>
                  <a:txBody>
                    <a:bodyPr wrap="square"/>
                    <a:lstStyle/>
                    <a:p>
                      <a:r>
                        <a:rPr sz="900" b="0" i="0">
                          <a:solidFill>
                            <a:srgbClr val="101828"/>
                          </a:solidFill>
                          <a:latin typeface="Arial"/>
                        </a:rPr>
                        <a:t>Anvil</a:t>
                      </a:r>
                    </a:p>
                  </a:txBody>
                  <a:tcPr marL="54864" marR="54864" marT="22860" marB="22860" anchor="ctr">
                    <a:solidFill>
                      <a:srgbClr val="F2F4F7"/>
                    </a:solidFill>
                  </a:tcPr>
                </a:tc>
                <a:tc>
                  <a:txBody>
                    <a:bodyPr wrap="square"/>
                    <a:lstStyle/>
                    <a:p>
                      <a:r>
                        <a:rPr sz="900" b="0" i="0">
                          <a:solidFill>
                            <a:srgbClr val="101828"/>
                          </a:solidFill>
                          <a:latin typeface="Arial"/>
                        </a:rPr>
                        <a:t>Intent vs a signed policy, AP2 limits as a second gate, self-correction</a:t>
                      </a:r>
                    </a:p>
                  </a:txBody>
                  <a:tcPr marL="54864" marR="54864" marT="22860" marB="22860" anchor="ctr">
                    <a:solidFill>
                      <a:srgbClr val="F2F4F7"/>
                    </a:solidFill>
                  </a:tcPr>
                </a:tc>
                <a:tc>
                  <a:txBody>
                    <a:bodyPr wrap="square"/>
                    <a:lstStyle/>
                    <a:p>
                      <a:r>
                        <a:rPr sz="900" b="0" i="0">
                          <a:solidFill>
                            <a:srgbClr val="101828"/>
                          </a:solidFill>
                          <a:latin typeface="Arial"/>
                        </a:rPr>
                        <a:t>Prototype executor is simulated</a:t>
                      </a:r>
                    </a:p>
                  </a:txBody>
                  <a:tcPr marL="54864" marR="54864" marT="22860" marB="22860" anchor="ctr">
                    <a:solidFill>
                      <a:srgbClr val="F2F4F7"/>
                    </a:solidFill>
                  </a:tcPr>
                </a:tc>
              </a:tr>
            </a:tbl>
          </a:graphicData>
        </a:graphic>
      </p:graphicFrame>
      <p:sp>
        <p:nvSpPr>
          <p:cNvPr id="81" name="TextBox 80"/>
          <p:cNvSpPr txBox="1"/>
          <p:nvPr/>
        </p:nvSpPr>
        <p:spPr>
          <a:xfrm>
            <a:off x="274320" y="2743200"/>
            <a:ext cx="4206240" cy="2103120"/>
          </a:xfrm>
          <a:prstGeom prst="rect">
            <a:avLst/>
          </a:prstGeom>
          <a:noFill/>
        </p:spPr>
        <p:txBody>
          <a:bodyPr wrap="square" anchor="t" lIns="36576" rIns="36576" tIns="18288" bIns="18288">
            <a:spAutoFit/>
          </a:bodyPr>
          <a:lstStyle/>
          <a:p>
            <a:pPr>
              <a:spcAft>
                <a:spcPts val="300"/>
              </a:spcAft>
            </a:pPr>
            <a:r>
              <a:rPr sz="1100" b="1" i="0">
                <a:solidFill>
                  <a:srgbClr val="3451D1"/>
                </a:solidFill>
                <a:latin typeface="Arial"/>
              </a:rPr>
              <a:t>Why now, and how it solves it</a:t>
            </a:r>
          </a:p>
          <a:p>
            <a:pPr>
              <a:spcAft>
                <a:spcPts val="400"/>
              </a:spcAft>
            </a:pPr>
            <a:r>
              <a:rPr sz="950" b="0" i="1">
                <a:solidFill>
                  <a:srgbClr val="667085"/>
                </a:solidFill>
                <a:latin typeface="Arial"/>
              </a:rPr>
              <a:t>Agents moved from suggesting to acting. Payment (AP2) and agent-to-agent (A2A) protocols now exist. What is missing is proof an action matched what a person approved.</a:t>
            </a:r>
          </a:p>
          <a:p>
            <a:pPr marL="146304" indent="-146304">
              <a:spcAft>
                <a:spcPts val="200"/>
              </a:spcAft>
              <a:buChar char="•"/>
            </a:pPr>
            <a:r>
              <a:rPr sz="950" b="0" i="0">
                <a:solidFill>
                  <a:srgbClr val="101828"/>
                </a:solidFill>
                <a:latin typeface="Arial"/>
              </a:rPr>
              <a:t>Finance signs the rules; a person approves anything beyond them.</a:t>
            </a:r>
          </a:p>
          <a:p>
            <a:pPr marL="146304" indent="-146304">
              <a:spcAft>
                <a:spcPts val="200"/>
              </a:spcAft>
              <a:buChar char="•"/>
            </a:pPr>
            <a:r>
              <a:rPr sz="950" b="0" i="0">
                <a:solidFill>
                  <a:srgbClr val="101828"/>
                </a:solidFill>
                <a:latin typeface="Arial"/>
              </a:rPr>
              <a:t>Gemini audits intent; code enforces approve, escalate or block.</a:t>
            </a:r>
          </a:p>
          <a:p>
            <a:pPr marL="146304" indent="-146304">
              <a:spcAft>
                <a:spcPts val="200"/>
              </a:spcAft>
              <a:buChar char="•"/>
            </a:pPr>
            <a:r>
              <a:rPr sz="950" b="0" i="0">
                <a:solidFill>
                  <a:srgbClr val="101828"/>
                </a:solidFill>
                <a:latin typeface="Arial"/>
              </a:rPr>
              <a:t>A blocked agent is told why, corrects itself, and is audited again.</a:t>
            </a:r>
          </a:p>
          <a:p>
            <a:pPr marL="146304" indent="-146304">
              <a:spcAft>
                <a:spcPts val="200"/>
              </a:spcAft>
              <a:buChar char="•"/>
            </a:pPr>
            <a:r>
              <a:rPr sz="950" b="0" i="0">
                <a:solidFill>
                  <a:srgbClr val="101828"/>
                </a:solidFill>
                <a:latin typeface="Arial"/>
              </a:rPr>
              <a:t>Every decision and every Gemini call is recorded and re-verifiable.</a:t>
            </a:r>
          </a:p>
        </p:txBody>
      </p:sp>
      <p:sp>
        <p:nvSpPr>
          <p:cNvPr id="82" name="TextBox 81"/>
          <p:cNvSpPr txBox="1"/>
          <p:nvPr/>
        </p:nvSpPr>
        <p:spPr>
          <a:xfrm>
            <a:off x="4663440" y="2743200"/>
            <a:ext cx="4206240" cy="2103120"/>
          </a:xfrm>
          <a:prstGeom prst="rect">
            <a:avLst/>
          </a:prstGeom>
          <a:noFill/>
        </p:spPr>
        <p:txBody>
          <a:bodyPr wrap="square" anchor="t" lIns="36576" rIns="36576" tIns="18288" bIns="18288">
            <a:spAutoFit/>
          </a:bodyPr>
          <a:lstStyle/>
          <a:p>
            <a:pPr>
              <a:spcAft>
                <a:spcPts val="300"/>
              </a:spcAft>
            </a:pPr>
            <a:r>
              <a:rPr sz="1100" b="1" i="0">
                <a:solidFill>
                  <a:srgbClr val="3451D1"/>
                </a:solidFill>
                <a:latin typeface="Arial"/>
              </a:rPr>
              <a:t>What is unique (USP)</a:t>
            </a:r>
          </a:p>
          <a:p>
            <a:pPr marL="146304" indent="-146304">
              <a:spcAft>
                <a:spcPts val="200"/>
              </a:spcAft>
              <a:buChar char="•"/>
            </a:pPr>
            <a:r>
              <a:rPr sz="950" b="0" i="0">
                <a:solidFill>
                  <a:srgbClr val="101828"/>
                </a:solidFill>
                <a:latin typeface="Arial"/>
              </a:rPr>
              <a:t>Semantic drift detection against a signed policy: 19/19 vs 10/19, no false blocks.</a:t>
            </a:r>
          </a:p>
          <a:p>
            <a:pPr marL="146304" indent="-146304">
              <a:spcAft>
                <a:spcPts val="200"/>
              </a:spcAft>
              <a:buChar char="•"/>
            </a:pPr>
            <a:r>
              <a:rPr sz="950" b="0" i="0">
                <a:solidFill>
                  <a:srgbClr val="101828"/>
                </a:solidFill>
                <a:latin typeface="Arial"/>
              </a:rPr>
              <a:t>Closed loop: block, explain, self-correct, re-audit.</a:t>
            </a:r>
          </a:p>
          <a:p>
            <a:pPr marL="146304" indent="-146304">
              <a:spcAft>
                <a:spcPts val="200"/>
              </a:spcAft>
              <a:buChar char="•"/>
            </a:pPr>
            <a:r>
              <a:rPr sz="950" b="0" i="0">
                <a:solidFill>
                  <a:srgbClr val="101828"/>
                </a:solidFill>
                <a:latin typeface="Arial"/>
              </a:rPr>
              <a:t>Two independent Google gates: Gemini for judgment, the AP2 SDK for limits.</a:t>
            </a:r>
          </a:p>
          <a:p>
            <a:pPr marL="146304" indent="-146304">
              <a:spcAft>
                <a:spcPts val="200"/>
              </a:spcAft>
              <a:buChar char="•"/>
            </a:pPr>
            <a:r>
              <a:rPr sz="950" b="0" i="0">
                <a:solidFill>
                  <a:srgbClr val="101828"/>
                </a:solidFill>
                <a:latin typeface="Arial"/>
              </a:rPr>
              <a:t>It shows its work: every offer considered, the agent's reasoning, the exact AI input and output.</a:t>
            </a:r>
          </a:p>
          <a:p>
            <a:pPr marL="146304" indent="-146304">
              <a:spcAft>
                <a:spcPts val="200"/>
              </a:spcAft>
              <a:buChar char="•"/>
            </a:pPr>
            <a:r>
              <a:rPr sz="950" b="0" i="0">
                <a:solidFill>
                  <a:srgbClr val="101828"/>
                </a:solidFill>
                <a:latin typeface="Arial"/>
              </a:rPr>
              <a:t>A domain-neutral engine: travel live, software proven on the same engine.</a:t>
            </a:r>
          </a:p>
          <a:p>
            <a:pPr marL="146304" indent="-146304">
              <a:spcAft>
                <a:spcPts val="200"/>
              </a:spcAft>
              <a:buChar char="•"/>
            </a:pPr>
            <a:r>
              <a:rPr sz="950" b="0" i="0">
                <a:solidFill>
                  <a:srgbClr val="101828"/>
                </a:solidFill>
                <a:latin typeface="Arial"/>
              </a:rPr>
              <a:t>Measured, not asserted: 26 travel and 12 software scenarios, 6 adversarial.</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274320" y="1143000"/>
            <a:ext cx="2788920" cy="310896"/>
          </a:xfrm>
          <a:prstGeom prst="roundRect">
            <a:avLst>
              <a:gd name="adj" fmla="val 20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FFFFFF"/>
                </a:solidFill>
                <a:latin typeface="Arial"/>
              </a:rPr>
              <a:t>Plan and book</a:t>
            </a:r>
          </a:p>
        </p:txBody>
      </p:sp>
      <p:sp>
        <p:nvSpPr>
          <p:cNvPr id="89" name="Rounded Rectangle 88"/>
          <p:cNvSpPr/>
          <p:nvPr/>
        </p:nvSpPr>
        <p:spPr>
          <a:xfrm>
            <a:off x="274320" y="1481328"/>
            <a:ext cx="2788920" cy="32004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marL="146304" indent="-146304">
              <a:spcAft>
                <a:spcPts val="500"/>
              </a:spcAft>
              <a:buChar char="•"/>
            </a:pPr>
            <a:r>
              <a:rPr sz="1100" b="0" i="0">
                <a:solidFill>
                  <a:srgbClr val="101828"/>
                </a:solidFill>
                <a:latin typeface="Arial"/>
              </a:rPr>
              <a:t>Trip planner: round trip or one way, 12 cities, real dates</a:t>
            </a:r>
          </a:p>
          <a:p>
            <a:pPr algn="l" marL="146304" indent="-146304">
              <a:spcAft>
                <a:spcPts val="500"/>
              </a:spcAft>
              <a:buChar char="•"/>
            </a:pPr>
            <a:r>
              <a:rPr sz="1100" b="0" i="0">
                <a:solidFill>
                  <a:srgbClr val="101828"/>
                </a:solidFill>
                <a:latin typeface="Arial"/>
              </a:rPr>
              <a:t>Live estimate and policy warnings before you submit</a:t>
            </a:r>
          </a:p>
          <a:p>
            <a:pPr algn="l" marL="146304" indent="-146304">
              <a:spcAft>
                <a:spcPts val="500"/>
              </a:spcAft>
              <a:buChar char="•"/>
            </a:pPr>
            <a:r>
              <a:rPr sz="1100" b="0" i="0">
                <a:solidFill>
                  <a:srgbClr val="101828"/>
                </a:solidFill>
                <a:latin typeface="Arial"/>
              </a:rPr>
              <a:t>Live Anvil Guard feed while the agent books</a:t>
            </a:r>
          </a:p>
          <a:p>
            <a:pPr algn="l" marL="146304" indent="-146304">
              <a:spcAft>
                <a:spcPts val="500"/>
              </a:spcAft>
              <a:buChar char="•"/>
            </a:pPr>
            <a:r>
              <a:rPr sz="1100" b="0" i="0">
                <a:solidFill>
                  <a:srgbClr val="101828"/>
                </a:solidFill>
                <a:latin typeface="Arial"/>
              </a:rPr>
              <a:t>Day-by-day itinerary: flight times, cabs with from/to, stay, booking refs; print or save</a:t>
            </a:r>
          </a:p>
          <a:p>
            <a:pPr algn="l" marL="146304" indent="-146304">
              <a:spcAft>
                <a:spcPts val="500"/>
              </a:spcAft>
              <a:buChar char="•"/>
            </a:pPr>
            <a:r>
              <a:rPr sz="1100" b="0" i="0">
                <a:solidFill>
                  <a:srgbClr val="101828"/>
                </a:solidFill>
                <a:latin typeface="Arial"/>
              </a:rPr>
              <a:t>Options the agent considered, and why</a:t>
            </a:r>
          </a:p>
          <a:p>
            <a:pPr algn="l" marL="146304" indent="-146304">
              <a:spcAft>
                <a:spcPts val="500"/>
              </a:spcAft>
              <a:buChar char="•"/>
            </a:pPr>
            <a:r>
              <a:rPr sz="1100" b="0" i="0">
                <a:solidFill>
                  <a:srgbClr val="101828"/>
                </a:solidFill>
                <a:latin typeface="Arial"/>
              </a:rPr>
              <a:t>Withdraw a request; notified on decisions</a:t>
            </a:r>
          </a:p>
        </p:txBody>
      </p:sp>
      <p:sp>
        <p:nvSpPr>
          <p:cNvPr id="90" name="Rounded Rectangle 89"/>
          <p:cNvSpPr/>
          <p:nvPr/>
        </p:nvSpPr>
        <p:spPr>
          <a:xfrm>
            <a:off x="3172968" y="1143000"/>
            <a:ext cx="2788920" cy="310896"/>
          </a:xfrm>
          <a:prstGeom prst="roundRect">
            <a:avLst>
              <a:gd name="adj" fmla="val 20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FFFFFF"/>
                </a:solidFill>
                <a:latin typeface="Arial"/>
              </a:rPr>
              <a:t>Enforce</a:t>
            </a:r>
          </a:p>
        </p:txBody>
      </p:sp>
      <p:sp>
        <p:nvSpPr>
          <p:cNvPr id="91" name="Rounded Rectangle 90"/>
          <p:cNvSpPr/>
          <p:nvPr/>
        </p:nvSpPr>
        <p:spPr>
          <a:xfrm>
            <a:off x="3172968" y="1481328"/>
            <a:ext cx="2788920" cy="32004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marL="146304" indent="-146304">
              <a:spcAft>
                <a:spcPts val="500"/>
              </a:spcAft>
              <a:buChar char="•"/>
            </a:pPr>
            <a:r>
              <a:rPr sz="1100" b="0" i="0">
                <a:solidFill>
                  <a:srgbClr val="101828"/>
                </a:solidFill>
                <a:latin typeface="Arial"/>
              </a:rPr>
              <a:t>Signed policy; Gemini semantic audit with a plain-language reason</a:t>
            </a:r>
          </a:p>
          <a:p>
            <a:pPr algn="l" marL="146304" indent="-146304">
              <a:spcAft>
                <a:spcPts val="500"/>
              </a:spcAft>
              <a:buChar char="•"/>
            </a:pPr>
            <a:r>
              <a:rPr sz="1100" b="0" i="0">
                <a:solidFill>
                  <a:srgbClr val="101828"/>
                </a:solidFill>
                <a:latin typeface="Arial"/>
              </a:rPr>
              <a:t>Enforcement in code, outside the model</a:t>
            </a:r>
          </a:p>
          <a:p>
            <a:pPr algn="l" marL="146304" indent="-146304">
              <a:spcAft>
                <a:spcPts val="500"/>
              </a:spcAft>
              <a:buChar char="•"/>
            </a:pPr>
            <a:r>
              <a:rPr sz="1100" b="0" i="0">
                <a:solidFill>
                  <a:srgbClr val="101828"/>
                </a:solidFill>
                <a:latin typeface="Arial"/>
              </a:rPr>
              <a:t>Company trip rules: notice, trip length</a:t>
            </a:r>
          </a:p>
          <a:p>
            <a:pPr algn="l" marL="146304" indent="-146304">
              <a:spcAft>
                <a:spcPts val="500"/>
              </a:spcAft>
              <a:buChar char="•"/>
            </a:pPr>
            <a:r>
              <a:rPr sz="1100" b="0" i="0">
                <a:solidFill>
                  <a:srgbClr val="101828"/>
                </a:solidFill>
                <a:latin typeface="Arial"/>
              </a:rPr>
              <a:t>AP2 SDK limits as a second gate</a:t>
            </a:r>
          </a:p>
          <a:p>
            <a:pPr algn="l" marL="146304" indent="-146304">
              <a:spcAft>
                <a:spcPts val="500"/>
              </a:spcAft>
              <a:buChar char="•"/>
            </a:pPr>
            <a:r>
              <a:rPr sz="1100" b="0" i="0">
                <a:solidFill>
                  <a:srgbClr val="101828"/>
                </a:solidFill>
                <a:latin typeface="Arial"/>
              </a:rPr>
              <a:t>Self-correction loop on every block</a:t>
            </a:r>
          </a:p>
          <a:p>
            <a:pPr algn="l" marL="146304" indent="-146304">
              <a:spcAft>
                <a:spcPts val="500"/>
              </a:spcAft>
              <a:buChar char="•"/>
            </a:pPr>
            <a:r>
              <a:rPr sz="1100" b="0" i="0">
                <a:solidFill>
                  <a:srgbClr val="101828"/>
                </a:solidFill>
                <a:latin typeface="Arial"/>
              </a:rPr>
              <a:t>Finance approves a whole trip in one decision</a:t>
            </a:r>
          </a:p>
          <a:p>
            <a:pPr algn="l" marL="146304" indent="-146304">
              <a:spcAft>
                <a:spcPts val="500"/>
              </a:spcAft>
              <a:buChar char="•"/>
            </a:pPr>
            <a:r>
              <a:rPr sz="1100" b="0" i="0">
                <a:solidFill>
                  <a:srgbClr val="101828"/>
                </a:solidFill>
                <a:latin typeface="Arial"/>
              </a:rPr>
              <a:t>Free text never authorizes (prompt-injection resistant)</a:t>
            </a:r>
          </a:p>
        </p:txBody>
      </p:sp>
      <p:sp>
        <p:nvSpPr>
          <p:cNvPr id="92" name="Rounded Rectangle 91"/>
          <p:cNvSpPr/>
          <p:nvPr/>
        </p:nvSpPr>
        <p:spPr>
          <a:xfrm>
            <a:off x="6071616" y="1143000"/>
            <a:ext cx="2788920" cy="310896"/>
          </a:xfrm>
          <a:prstGeom prst="roundRect">
            <a:avLst>
              <a:gd name="adj" fmla="val 20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FFFFFF"/>
                </a:solidFill>
                <a:latin typeface="Arial"/>
              </a:rPr>
              <a:t>Govern and prove</a:t>
            </a:r>
          </a:p>
        </p:txBody>
      </p:sp>
      <p:sp>
        <p:nvSpPr>
          <p:cNvPr id="93" name="Rounded Rectangle 92"/>
          <p:cNvSpPr/>
          <p:nvPr/>
        </p:nvSpPr>
        <p:spPr>
          <a:xfrm>
            <a:off x="6071616" y="1481328"/>
            <a:ext cx="2788920" cy="32004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marL="146304" indent="-146304">
              <a:spcAft>
                <a:spcPts val="500"/>
              </a:spcAft>
              <a:buChar char="•"/>
            </a:pPr>
            <a:r>
              <a:rPr sz="1100" b="0" i="0">
                <a:solidFill>
                  <a:srgbClr val="101828"/>
                </a:solidFill>
                <a:latin typeface="Arial"/>
              </a:rPr>
              <a:t>Finance edits and signs the policy: versioned, with who, when and why</a:t>
            </a:r>
          </a:p>
          <a:p>
            <a:pPr algn="l" marL="146304" indent="-146304">
              <a:spcAft>
                <a:spcPts val="500"/>
              </a:spcAft>
              <a:buChar char="•"/>
            </a:pPr>
            <a:r>
              <a:rPr sz="1100" b="0" i="0">
                <a:solidFill>
                  <a:srgbClr val="101828"/>
                </a:solidFill>
                <a:latin typeface="Arial"/>
              </a:rPr>
              <a:t>AI traces: exact input and output of every Gemini call</a:t>
            </a:r>
          </a:p>
          <a:p>
            <a:pPr algn="l" marL="146304" indent="-146304">
              <a:spcAft>
                <a:spcPts val="500"/>
              </a:spcAft>
              <a:buChar char="•"/>
            </a:pPr>
            <a:r>
              <a:rPr sz="1100" b="0" i="0">
                <a:solidFill>
                  <a:srgbClr val="101828"/>
                </a:solidFill>
                <a:latin typeface="Arial"/>
              </a:rPr>
              <a:t>Hash-chained audit log, evidence pack export</a:t>
            </a:r>
          </a:p>
          <a:p>
            <a:pPr algn="l" marL="146304" indent="-146304">
              <a:spcAft>
                <a:spcPts val="500"/>
              </a:spcAft>
              <a:buChar char="•"/>
            </a:pPr>
            <a:r>
              <a:rPr sz="1100" b="0" i="0">
                <a:solidFill>
                  <a:srgbClr val="101828"/>
                </a:solidFill>
                <a:latin typeface="Arial"/>
              </a:rPr>
              <a:t>Counterfactual receipts: what it would have cost</a:t>
            </a:r>
          </a:p>
          <a:p>
            <a:pPr algn="l" marL="146304" indent="-146304">
              <a:spcAft>
                <a:spcPts val="500"/>
              </a:spcAft>
              <a:buChar char="•"/>
            </a:pPr>
            <a:r>
              <a:rPr sz="1100" b="0" i="0">
                <a:solidFill>
                  <a:srgbClr val="101828"/>
                </a:solidFill>
                <a:latin typeface="Arial"/>
              </a:rPr>
              <a:t>Kill switch and emergency stop</a:t>
            </a:r>
          </a:p>
          <a:p>
            <a:pPr algn="l" marL="146304" indent="-146304">
              <a:spcAft>
                <a:spcPts val="500"/>
              </a:spcAft>
              <a:buChar char="•"/>
            </a:pPr>
            <a:r>
              <a:rPr sz="1100" b="0" i="0">
                <a:solidFill>
                  <a:srgbClr val="101828"/>
                </a:solidFill>
                <a:latin typeface="Arial"/>
              </a:rPr>
              <a:t>Role separation: operators cannot approve spend</a:t>
            </a:r>
          </a:p>
          <a:p>
            <a:pPr algn="l" marL="146304" indent="-146304">
              <a:spcAft>
                <a:spcPts val="500"/>
              </a:spcAft>
              <a:buChar char="•"/>
            </a:pPr>
            <a:r>
              <a:rPr sz="1100" b="0" i="0">
                <a:solidFill>
                  <a:srgbClr val="101828"/>
                </a:solidFill>
                <a:latin typeface="Arial"/>
              </a:rPr>
              <a:t>Spend by cost centre, activity export</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TextBox 95"/>
          <p:cNvSpPr txBox="1"/>
          <p:nvPr/>
        </p:nvSpPr>
        <p:spPr>
          <a:xfrm>
            <a:off x="274320" y="2029968"/>
            <a:ext cx="4023360" cy="457200"/>
          </a:xfrm>
          <a:prstGeom prst="rect">
            <a:avLst/>
          </a:prstGeom>
          <a:noFill/>
        </p:spPr>
        <p:txBody>
          <a:bodyPr wrap="square" anchor="t" lIns="36576" rIns="36576" tIns="18288" bIns="18288">
            <a:spAutoFit/>
          </a:bodyPr>
          <a:lstStyle/>
          <a:p>
            <a:pPr>
              <a:spcAft>
                <a:spcPts val="200"/>
              </a:spcAft>
            </a:pPr>
            <a:r>
              <a:rPr sz="950" b="0" i="1">
                <a:solidFill>
                  <a:srgbClr val="667085"/>
                </a:solidFill>
                <a:latin typeface="Arial"/>
              </a:rPr>
              <a:t>The engine flow is domain-neutral; shown here with the enterprise example, business trip booking</a:t>
            </a:r>
          </a:p>
        </p:txBody>
      </p:sp>
      <p:sp>
        <p:nvSpPr>
          <p:cNvPr id="97" name="Rounded Rectangle 96"/>
          <p:cNvSpPr/>
          <p:nvPr/>
        </p:nvSpPr>
        <p:spPr>
          <a:xfrm>
            <a:off x="228600" y="1188720"/>
            <a:ext cx="1554480" cy="777240"/>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1  Finance signs the policy</a:t>
            </a:r>
          </a:p>
        </p:txBody>
      </p:sp>
      <p:cxnSp>
        <p:nvCxnSpPr>
          <p:cNvPr id="98" name="Connector 97"/>
          <p:cNvCxnSpPr/>
          <p:nvPr/>
        </p:nvCxnSpPr>
        <p:spPr>
          <a:xfrm>
            <a:off x="1783080" y="1572768"/>
            <a:ext cx="228600"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9" name="Rounded Rectangle 98"/>
          <p:cNvSpPr/>
          <p:nvPr/>
        </p:nvSpPr>
        <p:spPr>
          <a:xfrm>
            <a:off x="2011680" y="1188720"/>
            <a:ext cx="1554480" cy="777240"/>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2  Employee plans a trip</a:t>
            </a:r>
          </a:p>
        </p:txBody>
      </p:sp>
      <p:cxnSp>
        <p:nvCxnSpPr>
          <p:cNvPr id="100" name="Connector 99"/>
          <p:cNvCxnSpPr/>
          <p:nvPr/>
        </p:nvCxnSpPr>
        <p:spPr>
          <a:xfrm>
            <a:off x="3566160" y="1572768"/>
            <a:ext cx="228600"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3794760" y="1188720"/>
            <a:ext cx="1554480" cy="777240"/>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3  Supplier agents return offers (A2A)</a:t>
            </a:r>
          </a:p>
        </p:txBody>
      </p:sp>
      <p:cxnSp>
        <p:nvCxnSpPr>
          <p:cNvPr id="102" name="Connector 101"/>
          <p:cNvCxnSpPr/>
          <p:nvPr/>
        </p:nvCxnSpPr>
        <p:spPr>
          <a:xfrm>
            <a:off x="5349240" y="1572768"/>
            <a:ext cx="228600"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3" name="Rounded Rectangle 102"/>
          <p:cNvSpPr/>
          <p:nvPr/>
        </p:nvSpPr>
        <p:spPr>
          <a:xfrm>
            <a:off x="5577840" y="1188720"/>
            <a:ext cx="1554480" cy="777240"/>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4  Gemini agent picks one offer per leg</a:t>
            </a:r>
          </a:p>
        </p:txBody>
      </p:sp>
      <p:cxnSp>
        <p:nvCxnSpPr>
          <p:cNvPr id="104" name="Connector 103"/>
          <p:cNvCxnSpPr/>
          <p:nvPr/>
        </p:nvCxnSpPr>
        <p:spPr>
          <a:xfrm>
            <a:off x="7132320" y="1572768"/>
            <a:ext cx="228599"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5" name="Rounded Rectangle 104"/>
          <p:cNvSpPr/>
          <p:nvPr/>
        </p:nvSpPr>
        <p:spPr>
          <a:xfrm>
            <a:off x="7360920" y="1188720"/>
            <a:ext cx="1554480" cy="777240"/>
          </a:xfrm>
          <a:prstGeom prst="roundRect">
            <a:avLst>
              <a:gd name="adj" fmla="val 12000"/>
            </a:avLst>
          </a:prstGeom>
          <a:solidFill>
            <a:srgbClr val="3451D1"/>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FFFFFF"/>
                </a:solidFill>
                <a:latin typeface="Arial"/>
              </a:rPr>
              <a:t>5  Anvil audits each booking</a:t>
            </a:r>
          </a:p>
          <a:p>
            <a:pPr algn="ctr">
              <a:spcAft>
                <a:spcPts val="100"/>
              </a:spcAft>
            </a:pPr>
            <a:r>
              <a:rPr sz="800" b="0" i="0">
                <a:solidFill>
                  <a:srgbClr val="FFFFFF"/>
                </a:solidFill>
                <a:latin typeface="Arial"/>
              </a:rPr>
              <a:t>Gemini + trip rules + AP2 limits</a:t>
            </a:r>
          </a:p>
        </p:txBody>
      </p:sp>
      <p:cxnSp>
        <p:nvCxnSpPr>
          <p:cNvPr id="106" name="Connector 105"/>
          <p:cNvCxnSpPr/>
          <p:nvPr/>
        </p:nvCxnSpPr>
        <p:spPr>
          <a:xfrm flipH="1">
            <a:off x="1828800" y="1965960"/>
            <a:ext cx="6035040" cy="731520"/>
          </a:xfrm>
          <a:prstGeom prst="line">
            <a:avLst/>
          </a:prstGeom>
          <a:ln w="20320">
            <a:solidFill>
              <a:srgbClr val="0676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ounded Rectangle 106"/>
          <p:cNvSpPr/>
          <p:nvPr/>
        </p:nvSpPr>
        <p:spPr>
          <a:xfrm>
            <a:off x="548640" y="2697480"/>
            <a:ext cx="2560320" cy="1051560"/>
          </a:xfrm>
          <a:prstGeom prst="roundRect">
            <a:avLst>
              <a:gd name="adj" fmla="val 12000"/>
            </a:avLst>
          </a:prstGeom>
          <a:solidFill>
            <a:srgbClr val="ECFDF3"/>
          </a:solidFill>
          <a:ln w="12700">
            <a:solidFill>
              <a:srgbClr val="0676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00" b="1" i="0">
                <a:solidFill>
                  <a:srgbClr val="067647"/>
                </a:solidFill>
                <a:latin typeface="Arial"/>
              </a:rPr>
              <a:t>APPROVE</a:t>
            </a:r>
          </a:p>
          <a:p>
            <a:pPr algn="ctr">
              <a:spcAft>
                <a:spcPts val="100"/>
              </a:spcAft>
            </a:pPr>
            <a:r>
              <a:rPr sz="950" b="0" i="0">
                <a:solidFill>
                  <a:srgbClr val="101828"/>
                </a:solidFill>
                <a:latin typeface="Arial"/>
              </a:rPr>
              <a:t>Signed receipt and AP2 chain verified. Itinerary with booking refs.</a:t>
            </a:r>
          </a:p>
        </p:txBody>
      </p:sp>
      <p:cxnSp>
        <p:nvCxnSpPr>
          <p:cNvPr id="108" name="Connector 107"/>
          <p:cNvCxnSpPr/>
          <p:nvPr/>
        </p:nvCxnSpPr>
        <p:spPr>
          <a:xfrm flipH="1">
            <a:off x="4663440" y="1965960"/>
            <a:ext cx="3200400" cy="731520"/>
          </a:xfrm>
          <a:prstGeom prst="line">
            <a:avLst/>
          </a:prstGeom>
          <a:ln w="20320">
            <a:solidFill>
              <a:srgbClr val="B5470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3383280" y="2697480"/>
            <a:ext cx="2560320" cy="1051560"/>
          </a:xfrm>
          <a:prstGeom prst="roundRect">
            <a:avLst>
              <a:gd name="adj" fmla="val 12000"/>
            </a:avLst>
          </a:prstGeom>
          <a:solidFill>
            <a:srgbClr val="FFFAEB"/>
          </a:solidFill>
          <a:ln w="12700">
            <a:solidFill>
              <a:srgbClr val="B5470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00" b="1" i="0">
                <a:solidFill>
                  <a:srgbClr val="B54708"/>
                </a:solidFill>
                <a:latin typeface="Arial"/>
              </a:rPr>
              <a:t>ESCALATE</a:t>
            </a:r>
          </a:p>
          <a:p>
            <a:pPr algn="ctr">
              <a:spcAft>
                <a:spcPts val="100"/>
              </a:spcAft>
            </a:pPr>
            <a:r>
              <a:rPr sz="950" b="0" i="0">
                <a:solidFill>
                  <a:srgbClr val="101828"/>
                </a:solidFill>
                <a:latin typeface="Arial"/>
              </a:rPr>
              <a:t>A finance manager approves or rejects the whole trip, with the reason on screen.</a:t>
            </a:r>
          </a:p>
        </p:txBody>
      </p:sp>
      <p:cxnSp>
        <p:nvCxnSpPr>
          <p:cNvPr id="110" name="Connector 109"/>
          <p:cNvCxnSpPr/>
          <p:nvPr/>
        </p:nvCxnSpPr>
        <p:spPr>
          <a:xfrm flipH="1">
            <a:off x="7498079" y="1965960"/>
            <a:ext cx="365761" cy="731520"/>
          </a:xfrm>
          <a:prstGeom prst="line">
            <a:avLst/>
          </a:prstGeom>
          <a:ln w="20320">
            <a:solidFill>
              <a:srgbClr val="B4231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1" name="Rounded Rectangle 110"/>
          <p:cNvSpPr/>
          <p:nvPr/>
        </p:nvSpPr>
        <p:spPr>
          <a:xfrm>
            <a:off x="6217920" y="2697480"/>
            <a:ext cx="2560320" cy="1051560"/>
          </a:xfrm>
          <a:prstGeom prst="roundRect">
            <a:avLst>
              <a:gd name="adj" fmla="val 12000"/>
            </a:avLst>
          </a:prstGeom>
          <a:solidFill>
            <a:srgbClr val="FEF3F2"/>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00" b="1" i="0">
                <a:solidFill>
                  <a:srgbClr val="B42318"/>
                </a:solidFill>
                <a:latin typeface="Arial"/>
              </a:rPr>
              <a:t>BLOCK</a:t>
            </a:r>
          </a:p>
          <a:p>
            <a:pPr algn="ctr">
              <a:spcAft>
                <a:spcPts val="100"/>
              </a:spcAft>
            </a:pPr>
            <a:r>
              <a:rPr sz="950" b="0" i="0">
                <a:solidFill>
                  <a:srgbClr val="101828"/>
                </a:solidFill>
                <a:latin typeface="Arial"/>
              </a:rPr>
              <a:t>The agent is told exactly why, picks a compliant offer, and it is audited again.</a:t>
            </a:r>
          </a:p>
        </p:txBody>
      </p:sp>
      <p:sp>
        <p:nvSpPr>
          <p:cNvPr id="112" name="Rounded Rectangle 111"/>
          <p:cNvSpPr/>
          <p:nvPr/>
        </p:nvSpPr>
        <p:spPr>
          <a:xfrm>
            <a:off x="228600" y="4005072"/>
            <a:ext cx="8686800" cy="566928"/>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Every step is written to a hash-chained audit log. Every Gemini call is traced with its input and output. A kill switch pauses any agent or revokes the policy instantly.</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Rounded Rectangle 103"/>
          <p:cNvSpPr/>
          <p:nvPr/>
        </p:nvSpPr>
        <p:spPr>
          <a:xfrm>
            <a:off x="274320" y="1143000"/>
            <a:ext cx="2788920" cy="3520440"/>
          </a:xfrm>
          <a:prstGeom prst="roundRect">
            <a:avLst>
              <a:gd name="adj" fmla="val 3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05" name="Rectangle 104"/>
          <p:cNvSpPr/>
          <p:nvPr/>
        </p:nvSpPr>
        <p:spPr>
          <a:xfrm>
            <a:off x="274320" y="1143000"/>
            <a:ext cx="2788920" cy="292608"/>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FFFFFF"/>
                </a:solidFill>
                <a:latin typeface="Arial"/>
              </a:rPr>
              <a:t>Employee</a:t>
            </a:r>
          </a:p>
        </p:txBody>
      </p:sp>
      <p:sp>
        <p:nvSpPr>
          <p:cNvPr id="106" name="Rectangle 105"/>
          <p:cNvSpPr/>
          <p:nvPr/>
        </p:nvSpPr>
        <p:spPr>
          <a:xfrm>
            <a:off x="347472" y="1508760"/>
            <a:ext cx="749808" cy="30632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spcAft>
                <a:spcPts val="500"/>
              </a:spcAft>
            </a:pPr>
            <a:r>
              <a:rPr sz="800" b="1" i="0">
                <a:solidFill>
                  <a:srgbClr val="3451D1"/>
                </a:solidFill>
                <a:latin typeface="Arial"/>
              </a:rPr>
              <a:t>My trips</a:t>
            </a:r>
          </a:p>
          <a:p>
            <a:pPr algn="l">
              <a:spcAft>
                <a:spcPts val="500"/>
              </a:spcAft>
            </a:pPr>
            <a:r>
              <a:rPr sz="800" b="0" i="0">
                <a:solidFill>
                  <a:srgbClr val="667085"/>
                </a:solidFill>
                <a:latin typeface="Arial"/>
              </a:rPr>
              <a:t>Policy</a:t>
            </a:r>
          </a:p>
        </p:txBody>
      </p:sp>
      <p:sp>
        <p:nvSpPr>
          <p:cNvPr id="107" name="Rounded Rectangle 106"/>
          <p:cNvSpPr/>
          <p:nvPr/>
        </p:nvSpPr>
        <p:spPr>
          <a:xfrm>
            <a:off x="1170432" y="1508760"/>
            <a:ext cx="1819656" cy="950976"/>
          </a:xfrm>
          <a:prstGeom prst="roundRect">
            <a:avLst>
              <a:gd name="adj" fmla="val 6000"/>
            </a:avLst>
          </a:prstGeom>
          <a:solidFill>
            <a:srgbClr val="EEF2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Plan a trip: dates, round trip, purpose, cost centre</a:t>
            </a:r>
          </a:p>
        </p:txBody>
      </p:sp>
      <p:sp>
        <p:nvSpPr>
          <p:cNvPr id="108" name="Rounded Rectangle 107"/>
          <p:cNvSpPr/>
          <p:nvPr/>
        </p:nvSpPr>
        <p:spPr>
          <a:xfrm>
            <a:off x="1170432" y="2551176"/>
            <a:ext cx="1819656" cy="950976"/>
          </a:xfrm>
          <a:prstGeom prst="roundRect">
            <a:avLst>
              <a:gd name="adj" fmla="val 6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Live estimate and policy warnings</a:t>
            </a:r>
          </a:p>
        </p:txBody>
      </p:sp>
      <p:sp>
        <p:nvSpPr>
          <p:cNvPr id="109" name="Rounded Rectangle 108"/>
          <p:cNvSpPr/>
          <p:nvPr/>
        </p:nvSpPr>
        <p:spPr>
          <a:xfrm>
            <a:off x="1170432" y="3593591"/>
            <a:ext cx="1819656" cy="950976"/>
          </a:xfrm>
          <a:prstGeom prst="roundRect">
            <a:avLst>
              <a:gd name="adj" fmla="val 6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Trip cards: itinerary, status, options considered</a:t>
            </a:r>
          </a:p>
        </p:txBody>
      </p:sp>
      <p:sp>
        <p:nvSpPr>
          <p:cNvPr id="110" name="Rounded Rectangle 109"/>
          <p:cNvSpPr/>
          <p:nvPr/>
        </p:nvSpPr>
        <p:spPr>
          <a:xfrm>
            <a:off x="3172968" y="1143000"/>
            <a:ext cx="2788920" cy="3520440"/>
          </a:xfrm>
          <a:prstGeom prst="roundRect">
            <a:avLst>
              <a:gd name="adj" fmla="val 3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11" name="Rectangle 110"/>
          <p:cNvSpPr/>
          <p:nvPr/>
        </p:nvSpPr>
        <p:spPr>
          <a:xfrm>
            <a:off x="3172968" y="1143000"/>
            <a:ext cx="2788920" cy="292608"/>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FFFFFF"/>
                </a:solidFill>
                <a:latin typeface="Arial"/>
              </a:rPr>
              <a:t>Finance manager</a:t>
            </a:r>
          </a:p>
        </p:txBody>
      </p:sp>
      <p:sp>
        <p:nvSpPr>
          <p:cNvPr id="112" name="Rectangle 111"/>
          <p:cNvSpPr/>
          <p:nvPr/>
        </p:nvSpPr>
        <p:spPr>
          <a:xfrm>
            <a:off x="3246120" y="1508760"/>
            <a:ext cx="749808" cy="30632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spcAft>
                <a:spcPts val="500"/>
              </a:spcAft>
            </a:pPr>
            <a:r>
              <a:rPr sz="800" b="1" i="0">
                <a:solidFill>
                  <a:srgbClr val="3451D1"/>
                </a:solidFill>
                <a:latin typeface="Arial"/>
              </a:rPr>
              <a:t>Approvals</a:t>
            </a:r>
          </a:p>
          <a:p>
            <a:pPr algn="l">
              <a:spcAft>
                <a:spcPts val="500"/>
              </a:spcAft>
            </a:pPr>
            <a:r>
              <a:rPr sz="800" b="0" i="0">
                <a:solidFill>
                  <a:srgbClr val="667085"/>
                </a:solidFill>
                <a:latin typeface="Arial"/>
              </a:rPr>
              <a:t>My trips</a:t>
            </a:r>
          </a:p>
          <a:p>
            <a:pPr algn="l">
              <a:spcAft>
                <a:spcPts val="500"/>
              </a:spcAft>
            </a:pPr>
            <a:r>
              <a:rPr sz="800" b="0" i="0">
                <a:solidFill>
                  <a:srgbClr val="667085"/>
                </a:solidFill>
                <a:latin typeface="Arial"/>
              </a:rPr>
              <a:t>Activity</a:t>
            </a:r>
          </a:p>
          <a:p>
            <a:pPr algn="l">
              <a:spcAft>
                <a:spcPts val="500"/>
              </a:spcAft>
            </a:pPr>
            <a:r>
              <a:rPr sz="800" b="0" i="0">
                <a:solidFill>
                  <a:srgbClr val="667085"/>
                </a:solidFill>
                <a:latin typeface="Arial"/>
              </a:rPr>
              <a:t>Spend</a:t>
            </a:r>
          </a:p>
          <a:p>
            <a:pPr algn="l">
              <a:spcAft>
                <a:spcPts val="500"/>
              </a:spcAft>
            </a:pPr>
            <a:r>
              <a:rPr sz="800" b="0" i="0">
                <a:solidFill>
                  <a:srgbClr val="667085"/>
                </a:solidFill>
                <a:latin typeface="Arial"/>
              </a:rPr>
              <a:t>Policy</a:t>
            </a:r>
          </a:p>
        </p:txBody>
      </p:sp>
      <p:sp>
        <p:nvSpPr>
          <p:cNvPr id="113" name="Rounded Rectangle 112"/>
          <p:cNvSpPr/>
          <p:nvPr/>
        </p:nvSpPr>
        <p:spPr>
          <a:xfrm>
            <a:off x="4069079" y="1508760"/>
            <a:ext cx="1819656" cy="950976"/>
          </a:xfrm>
          <a:prstGeom prst="roundRect">
            <a:avLst>
              <a:gd name="adj" fmla="val 6000"/>
            </a:avLst>
          </a:prstGeom>
          <a:solidFill>
            <a:srgbClr val="EEF2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Trip approval card: itinerary, reason, Approve all</a:t>
            </a:r>
          </a:p>
        </p:txBody>
      </p:sp>
      <p:sp>
        <p:nvSpPr>
          <p:cNvPr id="114" name="Rounded Rectangle 113"/>
          <p:cNvSpPr/>
          <p:nvPr/>
        </p:nvSpPr>
        <p:spPr>
          <a:xfrm>
            <a:off x="4069079" y="2551176"/>
            <a:ext cx="1819656" cy="950976"/>
          </a:xfrm>
          <a:prstGeom prst="roundRect">
            <a:avLst>
              <a:gd name="adj" fmla="val 6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Spend by cost centre; emergency stop</a:t>
            </a:r>
          </a:p>
        </p:txBody>
      </p:sp>
      <p:sp>
        <p:nvSpPr>
          <p:cNvPr id="115" name="Rounded Rectangle 114"/>
          <p:cNvSpPr/>
          <p:nvPr/>
        </p:nvSpPr>
        <p:spPr>
          <a:xfrm>
            <a:off x="4069079" y="3593591"/>
            <a:ext cx="1819656" cy="950976"/>
          </a:xfrm>
          <a:prstGeom prst="roundRect">
            <a:avLst>
              <a:gd name="adj" fmla="val 6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Policy editor and version history</a:t>
            </a:r>
          </a:p>
        </p:txBody>
      </p:sp>
      <p:sp>
        <p:nvSpPr>
          <p:cNvPr id="116" name="Rounded Rectangle 115"/>
          <p:cNvSpPr/>
          <p:nvPr/>
        </p:nvSpPr>
        <p:spPr>
          <a:xfrm>
            <a:off x="6071616" y="1143000"/>
            <a:ext cx="2788920" cy="3520440"/>
          </a:xfrm>
          <a:prstGeom prst="roundRect">
            <a:avLst>
              <a:gd name="adj" fmla="val 3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17" name="Rectangle 116"/>
          <p:cNvSpPr/>
          <p:nvPr/>
        </p:nvSpPr>
        <p:spPr>
          <a:xfrm>
            <a:off x="6071616" y="1143000"/>
            <a:ext cx="2788920" cy="292608"/>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FFFFFF"/>
                </a:solidFill>
                <a:latin typeface="Arial"/>
              </a:rPr>
              <a:t>Platform operator</a:t>
            </a:r>
          </a:p>
        </p:txBody>
      </p:sp>
      <p:sp>
        <p:nvSpPr>
          <p:cNvPr id="118" name="Rectangle 117"/>
          <p:cNvSpPr/>
          <p:nvPr/>
        </p:nvSpPr>
        <p:spPr>
          <a:xfrm>
            <a:off x="6144768" y="1508760"/>
            <a:ext cx="749808" cy="30632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spcAft>
                <a:spcPts val="500"/>
              </a:spcAft>
            </a:pPr>
            <a:r>
              <a:rPr sz="800" b="1" i="0">
                <a:solidFill>
                  <a:srgbClr val="3451D1"/>
                </a:solidFill>
                <a:latin typeface="Arial"/>
              </a:rPr>
              <a:t>Overview</a:t>
            </a:r>
          </a:p>
          <a:p>
            <a:pPr algn="l">
              <a:spcAft>
                <a:spcPts val="500"/>
              </a:spcAft>
            </a:pPr>
            <a:r>
              <a:rPr sz="800" b="0" i="0">
                <a:solidFill>
                  <a:srgbClr val="667085"/>
                </a:solidFill>
                <a:latin typeface="Arial"/>
              </a:rPr>
              <a:t>Agents</a:t>
            </a:r>
          </a:p>
          <a:p>
            <a:pPr algn="l">
              <a:spcAft>
                <a:spcPts val="500"/>
              </a:spcAft>
            </a:pPr>
            <a:r>
              <a:rPr sz="800" b="0" i="0">
                <a:solidFill>
                  <a:srgbClr val="667085"/>
                </a:solidFill>
                <a:latin typeface="Arial"/>
              </a:rPr>
              <a:t>Audit trail</a:t>
            </a:r>
          </a:p>
          <a:p>
            <a:pPr algn="l">
              <a:spcAft>
                <a:spcPts val="500"/>
              </a:spcAft>
            </a:pPr>
            <a:r>
              <a:rPr sz="800" b="0" i="0">
                <a:solidFill>
                  <a:srgbClr val="667085"/>
                </a:solidFill>
                <a:latin typeface="Arial"/>
              </a:rPr>
              <a:t>AI traces</a:t>
            </a:r>
          </a:p>
          <a:p>
            <a:pPr algn="l">
              <a:spcAft>
                <a:spcPts val="500"/>
              </a:spcAft>
            </a:pPr>
            <a:r>
              <a:rPr sz="800" b="0" i="0">
                <a:solidFill>
                  <a:srgbClr val="667085"/>
                </a:solidFill>
                <a:latin typeface="Arial"/>
              </a:rPr>
              <a:t>Quality</a:t>
            </a:r>
          </a:p>
          <a:p>
            <a:pPr algn="l">
              <a:spcAft>
                <a:spcPts val="500"/>
              </a:spcAft>
            </a:pPr>
            <a:r>
              <a:rPr sz="800" b="0" i="0">
                <a:solidFill>
                  <a:srgbClr val="667085"/>
                </a:solidFill>
                <a:latin typeface="Arial"/>
              </a:rPr>
              <a:t>Demo studio</a:t>
            </a:r>
          </a:p>
        </p:txBody>
      </p:sp>
      <p:sp>
        <p:nvSpPr>
          <p:cNvPr id="119" name="Rounded Rectangle 118"/>
          <p:cNvSpPr/>
          <p:nvPr/>
        </p:nvSpPr>
        <p:spPr>
          <a:xfrm>
            <a:off x="6967727" y="1508760"/>
            <a:ext cx="1819656" cy="950976"/>
          </a:xfrm>
          <a:prstGeom prst="roundRect">
            <a:avLst>
              <a:gd name="adj" fmla="val 6000"/>
            </a:avLst>
          </a:prstGeom>
          <a:solidFill>
            <a:srgbClr val="EEF2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Anvil Guard overview, live decisions</a:t>
            </a:r>
          </a:p>
        </p:txBody>
      </p:sp>
      <p:sp>
        <p:nvSpPr>
          <p:cNvPr id="120" name="Rounded Rectangle 119"/>
          <p:cNvSpPr/>
          <p:nvPr/>
        </p:nvSpPr>
        <p:spPr>
          <a:xfrm>
            <a:off x="6967727" y="2551176"/>
            <a:ext cx="1819656" cy="950976"/>
          </a:xfrm>
          <a:prstGeom prst="roundRect">
            <a:avLst>
              <a:gd name="adj" fmla="val 6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Pause an agent; verify or break the chain</a:t>
            </a:r>
          </a:p>
        </p:txBody>
      </p:sp>
      <p:sp>
        <p:nvSpPr>
          <p:cNvPr id="121" name="Rounded Rectangle 120"/>
          <p:cNvSpPr/>
          <p:nvPr/>
        </p:nvSpPr>
        <p:spPr>
          <a:xfrm>
            <a:off x="6967727" y="3593591"/>
            <a:ext cx="1819656" cy="950976"/>
          </a:xfrm>
          <a:prstGeom prst="roundRect">
            <a:avLst>
              <a:gd name="adj" fmla="val 6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AI traces: exact input and output of each call</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274320" y="1280160"/>
            <a:ext cx="1828800" cy="1143000"/>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101828"/>
                </a:solidFill>
                <a:latin typeface="Arial"/>
              </a:rPr>
              <a:t>Browser</a:t>
            </a:r>
          </a:p>
          <a:p>
            <a:pPr algn="ctr">
              <a:spcAft>
                <a:spcPts val="100"/>
              </a:spcAft>
            </a:pPr>
            <a:r>
              <a:rPr sz="850" b="0" i="0">
                <a:solidFill>
                  <a:srgbClr val="101828"/>
                </a:solidFill>
                <a:latin typeface="Arial"/>
              </a:rPr>
              <a:t>Firebase Hosting: three role workspaces (employee, finance, operator)</a:t>
            </a:r>
          </a:p>
        </p:txBody>
      </p:sp>
      <p:sp>
        <p:nvSpPr>
          <p:cNvPr id="113" name="Rounded Rectangle 112"/>
          <p:cNvSpPr/>
          <p:nvPr/>
        </p:nvSpPr>
        <p:spPr>
          <a:xfrm>
            <a:off x="2697480" y="1188720"/>
            <a:ext cx="3429000" cy="2011680"/>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ctr">
              <a:spcAft>
                <a:spcPts val="100"/>
              </a:spcAft>
            </a:pPr>
            <a:r>
              <a:rPr sz="1050" b="1" i="0">
                <a:solidFill>
                  <a:srgbClr val="3451D1"/>
                </a:solidFill>
                <a:latin typeface="Arial"/>
              </a:rPr>
              <a:t>Cloud Run: anvil (Flask API)</a:t>
            </a:r>
          </a:p>
        </p:txBody>
      </p:sp>
      <p:sp>
        <p:nvSpPr>
          <p:cNvPr id="114" name="Rounded Rectangle 113"/>
          <p:cNvSpPr/>
          <p:nvPr/>
        </p:nvSpPr>
        <p:spPr>
          <a:xfrm>
            <a:off x="2788920" y="1572768"/>
            <a:ext cx="1554480" cy="713232"/>
          </a:xfrm>
          <a:prstGeom prst="roundRect">
            <a:avLst>
              <a:gd name="adj" fmla="val 8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Booking agent (A2A client)</a:t>
            </a:r>
          </a:p>
        </p:txBody>
      </p:sp>
      <p:sp>
        <p:nvSpPr>
          <p:cNvPr id="115" name="Rounded Rectangle 114"/>
          <p:cNvSpPr/>
          <p:nvPr/>
        </p:nvSpPr>
        <p:spPr>
          <a:xfrm>
            <a:off x="4434840" y="1572768"/>
            <a:ext cx="1554480" cy="713232"/>
          </a:xfrm>
          <a:prstGeom prst="roundRect">
            <a:avLst>
              <a:gd name="adj" fmla="val 8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Anvil Guard: audit, trip rules, AP2 gate</a:t>
            </a:r>
          </a:p>
        </p:txBody>
      </p:sp>
      <p:sp>
        <p:nvSpPr>
          <p:cNvPr id="116" name="Rounded Rectangle 115"/>
          <p:cNvSpPr/>
          <p:nvPr/>
        </p:nvSpPr>
        <p:spPr>
          <a:xfrm>
            <a:off x="2788920" y="2377440"/>
            <a:ext cx="1554480" cy="713232"/>
          </a:xfrm>
          <a:prstGeom prst="roundRect">
            <a:avLst>
              <a:gd name="adj" fmla="val 8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Policy, approvals, controls</a:t>
            </a:r>
          </a:p>
        </p:txBody>
      </p:sp>
      <p:sp>
        <p:nvSpPr>
          <p:cNvPr id="117" name="Rounded Rectangle 116"/>
          <p:cNvSpPr/>
          <p:nvPr/>
        </p:nvSpPr>
        <p:spPr>
          <a:xfrm>
            <a:off x="4434840" y="2377440"/>
            <a:ext cx="1554480" cy="713232"/>
          </a:xfrm>
          <a:prstGeom prst="roundRect">
            <a:avLst>
              <a:gd name="adj" fmla="val 8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850" b="0" i="0">
                <a:solidFill>
                  <a:srgbClr val="101828"/>
                </a:solidFill>
                <a:latin typeface="Arial"/>
              </a:rPr>
              <a:t>Evidence, traces, hash chain</a:t>
            </a:r>
          </a:p>
        </p:txBody>
      </p:sp>
      <p:sp>
        <p:nvSpPr>
          <p:cNvPr id="118" name="Rounded Rectangle 117"/>
          <p:cNvSpPr/>
          <p:nvPr/>
        </p:nvSpPr>
        <p:spPr>
          <a:xfrm>
            <a:off x="6720840" y="1280160"/>
            <a:ext cx="2148840" cy="1143000"/>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101828"/>
                </a:solidFill>
                <a:latin typeface="Arial"/>
              </a:rPr>
              <a:t>Cloud Run: anvil-suppliers</a:t>
            </a:r>
          </a:p>
          <a:p>
            <a:pPr algn="ctr">
              <a:spcAft>
                <a:spcPts val="100"/>
              </a:spcAft>
            </a:pPr>
            <a:r>
              <a:rPr sz="850" b="0" i="0">
                <a:solidFill>
                  <a:srgbClr val="101828"/>
                </a:solidFill>
                <a:latin typeface="Arial"/>
              </a:rPr>
              <a:t>A2A agents (Agent Cards): flight, hotel, transport; 12 cities</a:t>
            </a:r>
          </a:p>
        </p:txBody>
      </p:sp>
      <p:sp>
        <p:nvSpPr>
          <p:cNvPr id="119" name="Rounded Rectangle 118"/>
          <p:cNvSpPr/>
          <p:nvPr/>
        </p:nvSpPr>
        <p:spPr>
          <a:xfrm>
            <a:off x="640080" y="3657600"/>
            <a:ext cx="2286000" cy="868680"/>
          </a:xfrm>
          <a:prstGeom prst="roundRect">
            <a:avLst>
              <a:gd name="adj" fmla="val 12000"/>
            </a:avLst>
          </a:prstGeom>
          <a:solidFill>
            <a:srgbClr val="ECFDF3"/>
          </a:solidFill>
          <a:ln w="12700">
            <a:solidFill>
              <a:srgbClr val="0676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067647"/>
                </a:solidFill>
                <a:latin typeface="Arial"/>
              </a:rPr>
              <a:t>Firestore</a:t>
            </a:r>
          </a:p>
          <a:p>
            <a:pPr algn="ctr">
              <a:spcAft>
                <a:spcPts val="100"/>
              </a:spcAft>
            </a:pPr>
            <a:r>
              <a:rPr sz="850" b="0" i="0">
                <a:solidFill>
                  <a:srgbClr val="101828"/>
                </a:solidFill>
                <a:latin typeface="Arial"/>
              </a:rPr>
              <a:t>hash-chained audit log, policy versions, AI traces, controls</a:t>
            </a:r>
          </a:p>
        </p:txBody>
      </p:sp>
      <p:sp>
        <p:nvSpPr>
          <p:cNvPr id="120" name="Rounded Rectangle 119"/>
          <p:cNvSpPr/>
          <p:nvPr/>
        </p:nvSpPr>
        <p:spPr>
          <a:xfrm>
            <a:off x="3611880" y="3657600"/>
            <a:ext cx="2286000" cy="868680"/>
          </a:xfrm>
          <a:prstGeom prst="roundRect">
            <a:avLst>
              <a:gd name="adj" fmla="val 12000"/>
            </a:avLst>
          </a:prstGeom>
          <a:solidFill>
            <a:srgbClr val="FFFAEB"/>
          </a:solidFill>
          <a:ln w="12700">
            <a:solidFill>
              <a:srgbClr val="B5470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B54708"/>
                </a:solidFill>
                <a:latin typeface="Arial"/>
              </a:rPr>
              <a:t>Vertex AI: Gemini 2.5 Flash</a:t>
            </a:r>
          </a:p>
          <a:p>
            <a:pPr algn="ctr">
              <a:spcAft>
                <a:spcPts val="100"/>
              </a:spcAft>
            </a:pPr>
            <a:r>
              <a:rPr sz="850" b="0" i="0">
                <a:solidFill>
                  <a:srgbClr val="101828"/>
                </a:solidFill>
                <a:latin typeface="Arial"/>
              </a:rPr>
              <a:t>plan, audit and correct calls, JSON output</a:t>
            </a:r>
          </a:p>
        </p:txBody>
      </p:sp>
      <p:sp>
        <p:nvSpPr>
          <p:cNvPr id="121" name="Rounded Rectangle 120"/>
          <p:cNvSpPr/>
          <p:nvPr/>
        </p:nvSpPr>
        <p:spPr>
          <a:xfrm>
            <a:off x="6400800" y="3657600"/>
            <a:ext cx="2468880" cy="868680"/>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101828"/>
                </a:solidFill>
                <a:latin typeface="Arial"/>
              </a:rPr>
              <a:t>Secret Manager + AP2 SDK</a:t>
            </a:r>
          </a:p>
          <a:p>
            <a:pPr algn="ctr">
              <a:spcAft>
                <a:spcPts val="100"/>
              </a:spcAft>
            </a:pPr>
            <a:r>
              <a:rPr sz="850" b="0" i="0">
                <a:solidFill>
                  <a:srgbClr val="101828"/>
                </a:solidFill>
                <a:latin typeface="Arial"/>
              </a:rPr>
              <a:t>orchestrator key; signed mandate chains verified per booking</a:t>
            </a:r>
          </a:p>
        </p:txBody>
      </p:sp>
      <p:cxnSp>
        <p:nvCxnSpPr>
          <p:cNvPr id="122" name="Connector 121"/>
          <p:cNvCxnSpPr/>
          <p:nvPr/>
        </p:nvCxnSpPr>
        <p:spPr>
          <a:xfrm>
            <a:off x="2103120" y="1828800"/>
            <a:ext cx="594360"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6126480" y="1828800"/>
            <a:ext cx="594360"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a:off x="6126480" y="2103120"/>
            <a:ext cx="594360"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4846320" y="3200400"/>
            <a:ext cx="0" cy="45720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H="1">
            <a:off x="2286000" y="3200400"/>
            <a:ext cx="1005840" cy="45720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669280" y="3200400"/>
            <a:ext cx="1645920" cy="45720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14400" y="2423160"/>
            <a:ext cx="0" cy="1234440"/>
          </a:xfrm>
          <a:prstGeom prst="line">
            <a:avLst/>
          </a:prstGeom>
          <a:ln w="20320">
            <a:solidFill>
              <a:srgbClr val="0676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2011680" y="1481328"/>
            <a:ext cx="822960" cy="274320"/>
          </a:xfrm>
          <a:prstGeom prst="rect">
            <a:avLst/>
          </a:prstGeom>
          <a:noFill/>
        </p:spPr>
        <p:txBody>
          <a:bodyPr wrap="square" anchor="t" lIns="36576" rIns="36576" tIns="18288" bIns="18288">
            <a:spAutoFit/>
          </a:bodyPr>
          <a:lstStyle/>
          <a:p>
            <a:pPr>
              <a:spcAft>
                <a:spcPts val="200"/>
              </a:spcAft>
            </a:pPr>
            <a:r>
              <a:rPr sz="750" b="0" i="0">
                <a:solidFill>
                  <a:srgbClr val="667085"/>
                </a:solidFill>
                <a:latin typeface="Arial"/>
              </a:rPr>
              <a:t>HTTPS</a:t>
            </a:r>
          </a:p>
        </p:txBody>
      </p:sp>
      <p:sp>
        <p:nvSpPr>
          <p:cNvPr id="130" name="TextBox 129"/>
          <p:cNvSpPr txBox="1"/>
          <p:nvPr/>
        </p:nvSpPr>
        <p:spPr>
          <a:xfrm>
            <a:off x="6126480" y="1481328"/>
            <a:ext cx="731520" cy="274320"/>
          </a:xfrm>
          <a:prstGeom prst="rect">
            <a:avLst/>
          </a:prstGeom>
          <a:noFill/>
        </p:spPr>
        <p:txBody>
          <a:bodyPr wrap="square" anchor="t" lIns="36576" rIns="36576" tIns="18288" bIns="18288">
            <a:spAutoFit/>
          </a:bodyPr>
          <a:lstStyle/>
          <a:p>
            <a:pPr>
              <a:spcAft>
                <a:spcPts val="200"/>
              </a:spcAft>
            </a:pPr>
            <a:r>
              <a:rPr sz="750" b="0" i="0">
                <a:solidFill>
                  <a:srgbClr val="667085"/>
                </a:solidFill>
                <a:latin typeface="Arial"/>
              </a:rPr>
              <a:t>A2A</a:t>
            </a:r>
          </a:p>
        </p:txBody>
      </p:sp>
      <p:sp>
        <p:nvSpPr>
          <p:cNvPr id="131" name="TextBox 130"/>
          <p:cNvSpPr txBox="1"/>
          <p:nvPr/>
        </p:nvSpPr>
        <p:spPr>
          <a:xfrm>
            <a:off x="960120" y="2834640"/>
            <a:ext cx="1463040" cy="274320"/>
          </a:xfrm>
          <a:prstGeom prst="rect">
            <a:avLst/>
          </a:prstGeom>
          <a:noFill/>
        </p:spPr>
        <p:txBody>
          <a:bodyPr wrap="square" anchor="t" lIns="36576" rIns="36576" tIns="18288" bIns="18288">
            <a:spAutoFit/>
          </a:bodyPr>
          <a:lstStyle/>
          <a:p>
            <a:pPr>
              <a:spcAft>
                <a:spcPts val="200"/>
              </a:spcAft>
            </a:pPr>
            <a:r>
              <a:rPr sz="750" b="0" i="0">
                <a:solidFill>
                  <a:srgbClr val="067647"/>
                </a:solidFill>
                <a:latin typeface="Arial"/>
              </a:rPr>
              <a:t>live feed (read-only)</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graphicFrame>
        <p:nvGraphicFramePr>
          <p:cNvPr id="120" name="Table 119"/>
          <p:cNvGraphicFramePr>
            <a:graphicFrameLocks noGrp="1"/>
          </p:cNvGraphicFramePr>
          <p:nvPr/>
        </p:nvGraphicFramePr>
        <p:xfrm>
          <a:off x="274320" y="1143000"/>
          <a:ext cx="8595360" cy="3328416"/>
        </p:xfrm>
        <a:graphic>
          <a:graphicData uri="http://schemas.openxmlformats.org/drawingml/2006/table">
            <a:tbl>
              <a:tblPr firstRow="0" bandRow="0">
                <a:tableStyleId>{5940675A-B579-460E-94D1-54222C63F5DA}</a:tableStyleId>
              </a:tblPr>
              <a:tblGrid>
                <a:gridCol w="1325880"/>
                <a:gridCol w="3337560"/>
                <a:gridCol w="3931920"/>
              </a:tblGrid>
              <a:tr h="475488">
                <a:tc>
                  <a:txBody>
                    <a:bodyPr wrap="square"/>
                    <a:lstStyle/>
                    <a:p>
                      <a:r>
                        <a:rPr sz="950" b="1" i="0">
                          <a:solidFill>
                            <a:srgbClr val="FFFFFF"/>
                          </a:solidFill>
                          <a:latin typeface="Arial"/>
                        </a:rPr>
                        <a:t>Layer</a:t>
                      </a:r>
                    </a:p>
                  </a:txBody>
                  <a:tcPr marL="54864" marR="54864" marT="22860" marB="22860" anchor="ctr">
                    <a:solidFill>
                      <a:srgbClr val="3451D1"/>
                    </a:solidFill>
                  </a:tcPr>
                </a:tc>
                <a:tc>
                  <a:txBody>
                    <a:bodyPr wrap="square"/>
                    <a:lstStyle/>
                    <a:p>
                      <a:r>
                        <a:rPr sz="950" b="1" i="0">
                          <a:solidFill>
                            <a:srgbClr val="FFFFFF"/>
                          </a:solidFill>
                          <a:latin typeface="Arial"/>
                        </a:rPr>
                        <a:t>Technology</a:t>
                      </a:r>
                    </a:p>
                  </a:txBody>
                  <a:tcPr marL="54864" marR="54864" marT="22860" marB="22860" anchor="ctr">
                    <a:solidFill>
                      <a:srgbClr val="3451D1"/>
                    </a:solidFill>
                  </a:tcPr>
                </a:tc>
                <a:tc>
                  <a:txBody>
                    <a:bodyPr wrap="square"/>
                    <a:lstStyle/>
                    <a:p>
                      <a:r>
                        <a:rPr sz="950" b="1" i="0">
                          <a:solidFill>
                            <a:srgbClr val="FFFFFF"/>
                          </a:solidFill>
                          <a:latin typeface="Arial"/>
                        </a:rPr>
                        <a:t>Used for</a:t>
                      </a:r>
                    </a:p>
                  </a:txBody>
                  <a:tcPr marL="54864" marR="54864" marT="22860" marB="22860" anchor="ctr">
                    <a:solidFill>
                      <a:srgbClr val="3451D1"/>
                    </a:solidFill>
                  </a:tcPr>
                </a:tc>
              </a:tr>
              <a:tr h="475488">
                <a:tc>
                  <a:txBody>
                    <a:bodyPr wrap="square"/>
                    <a:lstStyle/>
                    <a:p>
                      <a:r>
                        <a:rPr sz="950" b="1" i="0">
                          <a:solidFill>
                            <a:srgbClr val="101828"/>
                          </a:solidFill>
                          <a:latin typeface="Arial"/>
                        </a:rPr>
                        <a:t>Google AI</a:t>
                      </a:r>
                    </a:p>
                  </a:txBody>
                  <a:tcPr marL="54864" marR="54864" marT="22860" marB="22860" anchor="ctr">
                    <a:solidFill>
                      <a:srgbClr val="FFFFFF"/>
                    </a:solidFill>
                  </a:tcPr>
                </a:tc>
                <a:tc>
                  <a:txBody>
                    <a:bodyPr wrap="square"/>
                    <a:lstStyle/>
                    <a:p>
                      <a:r>
                        <a:rPr sz="950" b="0" i="0">
                          <a:solidFill>
                            <a:srgbClr val="101828"/>
                          </a:solidFill>
                          <a:latin typeface="Arial"/>
                        </a:rPr>
                        <a:t>Gemini 2.5 Flash on Vertex AI (google-genai SDK)</a:t>
                      </a:r>
                    </a:p>
                  </a:txBody>
                  <a:tcPr marL="54864" marR="54864" marT="22860" marB="22860" anchor="ctr">
                    <a:solidFill>
                      <a:srgbClr val="FFFFFF"/>
                    </a:solidFill>
                  </a:tcPr>
                </a:tc>
                <a:tc>
                  <a:txBody>
                    <a:bodyPr wrap="square"/>
                    <a:lstStyle/>
                    <a:p>
                      <a:r>
                        <a:rPr sz="950" b="0" i="0">
                          <a:solidFill>
                            <a:srgbClr val="101828"/>
                          </a:solidFill>
                          <a:latin typeface="Arial"/>
                        </a:rPr>
                        <a:t>Booking agent, intent auditor, corrector: structured JSON, temperature 0</a:t>
                      </a:r>
                    </a:p>
                  </a:txBody>
                  <a:tcPr marL="54864" marR="54864" marT="22860" marB="22860" anchor="ctr">
                    <a:solidFill>
                      <a:srgbClr val="FFFFFF"/>
                    </a:solidFill>
                  </a:tcPr>
                </a:tc>
              </a:tr>
              <a:tr h="475488">
                <a:tc>
                  <a:txBody>
                    <a:bodyPr wrap="square"/>
                    <a:lstStyle/>
                    <a:p>
                      <a:r>
                        <a:rPr sz="950" b="1" i="0">
                          <a:solidFill>
                            <a:srgbClr val="101828"/>
                          </a:solidFill>
                          <a:latin typeface="Arial"/>
                        </a:rPr>
                        <a:t>Agent protocols</a:t>
                      </a:r>
                    </a:p>
                  </a:txBody>
                  <a:tcPr marL="54864" marR="54864" marT="22860" marB="22860" anchor="ctr">
                    <a:solidFill>
                      <a:srgbClr val="F2F4F7"/>
                    </a:solidFill>
                  </a:tcPr>
                </a:tc>
                <a:tc>
                  <a:txBody>
                    <a:bodyPr wrap="square"/>
                    <a:lstStyle/>
                    <a:p>
                      <a:r>
                        <a:rPr sz="950" b="0" i="0">
                          <a:solidFill>
                            <a:srgbClr val="101828"/>
                          </a:solidFill>
                          <a:latin typeface="Arial"/>
                        </a:rPr>
                        <a:t>A2A (official a2a-sdk) and AP2 V2 SDK</a:t>
                      </a:r>
                    </a:p>
                  </a:txBody>
                  <a:tcPr marL="54864" marR="54864" marT="22860" marB="22860" anchor="ctr">
                    <a:solidFill>
                      <a:srgbClr val="F2F4F7"/>
                    </a:solidFill>
                  </a:tcPr>
                </a:tc>
                <a:tc>
                  <a:txBody>
                    <a:bodyPr wrap="square"/>
                    <a:lstStyle/>
                    <a:p>
                      <a:r>
                        <a:rPr sz="950" b="0" i="0">
                          <a:solidFill>
                            <a:srgbClr val="101828"/>
                          </a:solidFill>
                          <a:latin typeface="Arial"/>
                        </a:rPr>
                        <a:t>Supplier discovery over Agent Cards; signed mandate chains verified per booking</a:t>
                      </a:r>
                    </a:p>
                  </a:txBody>
                  <a:tcPr marL="54864" marR="54864" marT="22860" marB="22860" anchor="ctr">
                    <a:solidFill>
                      <a:srgbClr val="F2F4F7"/>
                    </a:solidFill>
                  </a:tcPr>
                </a:tc>
              </a:tr>
              <a:tr h="475488">
                <a:tc>
                  <a:txBody>
                    <a:bodyPr wrap="square"/>
                    <a:lstStyle/>
                    <a:p>
                      <a:r>
                        <a:rPr sz="950" b="1" i="0">
                          <a:solidFill>
                            <a:srgbClr val="101828"/>
                          </a:solidFill>
                          <a:latin typeface="Arial"/>
                        </a:rPr>
                        <a:t>Google Cloud</a:t>
                      </a:r>
                    </a:p>
                  </a:txBody>
                  <a:tcPr marL="54864" marR="54864" marT="22860" marB="22860" anchor="ctr">
                    <a:solidFill>
                      <a:srgbClr val="FFFFFF"/>
                    </a:solidFill>
                  </a:tcPr>
                </a:tc>
                <a:tc>
                  <a:txBody>
                    <a:bodyPr wrap="square"/>
                    <a:lstStyle/>
                    <a:p>
                      <a:r>
                        <a:rPr sz="950" b="0" i="0">
                          <a:solidFill>
                            <a:srgbClr val="101828"/>
                          </a:solidFill>
                          <a:latin typeface="Arial"/>
                        </a:rPr>
                        <a:t>Cloud Run (2 services), Firestore, Firebase Hosting, Secret Manager, Cloud Build</a:t>
                      </a:r>
                    </a:p>
                  </a:txBody>
                  <a:tcPr marL="54864" marR="54864" marT="22860" marB="22860" anchor="ctr">
                    <a:solidFill>
                      <a:srgbClr val="FFFFFF"/>
                    </a:solidFill>
                  </a:tcPr>
                </a:tc>
                <a:tc>
                  <a:txBody>
                    <a:bodyPr wrap="square"/>
                    <a:lstStyle/>
                    <a:p>
                      <a:r>
                        <a:rPr sz="950" b="0" i="0">
                          <a:solidFill>
                            <a:srgbClr val="101828"/>
                          </a:solidFill>
                          <a:latin typeface="Arial"/>
                        </a:rPr>
                        <a:t>API and agents; hash-chained log, policy versions and AI traces, live feed; web app; signing key; source deploys</a:t>
                      </a:r>
                    </a:p>
                  </a:txBody>
                  <a:tcPr marL="54864" marR="54864" marT="22860" marB="22860" anchor="ctr">
                    <a:solidFill>
                      <a:srgbClr val="FFFFFF"/>
                    </a:solidFill>
                  </a:tcPr>
                </a:tc>
              </a:tr>
              <a:tr h="475488">
                <a:tc>
                  <a:txBody>
                    <a:bodyPr wrap="square"/>
                    <a:lstStyle/>
                    <a:p>
                      <a:r>
                        <a:rPr sz="950" b="1" i="0">
                          <a:solidFill>
                            <a:srgbClr val="101828"/>
                          </a:solidFill>
                          <a:latin typeface="Arial"/>
                        </a:rPr>
                        <a:t>Application</a:t>
                      </a:r>
                    </a:p>
                  </a:txBody>
                  <a:tcPr marL="54864" marR="54864" marT="22860" marB="22860" anchor="ctr">
                    <a:solidFill>
                      <a:srgbClr val="F2F4F7"/>
                    </a:solidFill>
                  </a:tcPr>
                </a:tc>
                <a:tc>
                  <a:txBody>
                    <a:bodyPr wrap="square"/>
                    <a:lstStyle/>
                    <a:p>
                      <a:r>
                        <a:rPr sz="950" b="0" i="0">
                          <a:solidFill>
                            <a:srgbClr val="101828"/>
                          </a:solidFill>
                          <a:latin typeface="Arial"/>
                        </a:rPr>
                        <a:t>Python, Flask + gunicorn, jwcrypto / cryptography</a:t>
                      </a:r>
                    </a:p>
                  </a:txBody>
                  <a:tcPr marL="54864" marR="54864" marT="22860" marB="22860" anchor="ctr">
                    <a:solidFill>
                      <a:srgbClr val="F2F4F7"/>
                    </a:solidFill>
                  </a:tcPr>
                </a:tc>
                <a:tc>
                  <a:txBody>
                    <a:bodyPr wrap="square"/>
                    <a:lstStyle/>
                    <a:p>
                      <a:r>
                        <a:rPr sz="950" b="0" i="0">
                          <a:solidFill>
                            <a:srgbClr val="101828"/>
                          </a:solidFill>
                          <a:latin typeface="Arial"/>
                        </a:rPr>
                        <a:t>HTTP API, streaming runs, enforcement, signed policy, SD-JWT mandates</a:t>
                      </a:r>
                    </a:p>
                  </a:txBody>
                  <a:tcPr marL="54864" marR="54864" marT="22860" marB="22860" anchor="ctr">
                    <a:solidFill>
                      <a:srgbClr val="F2F4F7"/>
                    </a:solidFill>
                  </a:tcPr>
                </a:tc>
              </a:tr>
              <a:tr h="475488">
                <a:tc>
                  <a:txBody>
                    <a:bodyPr wrap="square"/>
                    <a:lstStyle/>
                    <a:p>
                      <a:r>
                        <a:rPr sz="950" b="1" i="0">
                          <a:solidFill>
                            <a:srgbClr val="101828"/>
                          </a:solidFill>
                          <a:latin typeface="Arial"/>
                        </a:rPr>
                        <a:t>Frontend</a:t>
                      </a:r>
                    </a:p>
                  </a:txBody>
                  <a:tcPr marL="54864" marR="54864" marT="22860" marB="22860" anchor="ctr">
                    <a:solidFill>
                      <a:srgbClr val="FFFFFF"/>
                    </a:solidFill>
                  </a:tcPr>
                </a:tc>
                <a:tc>
                  <a:txBody>
                    <a:bodyPr wrap="square"/>
                    <a:lstStyle/>
                    <a:p>
                      <a:r>
                        <a:rPr sz="950" b="0" i="0">
                          <a:solidFill>
                            <a:srgbClr val="101828"/>
                          </a:solidFill>
                          <a:latin typeface="Arial"/>
                        </a:rPr>
                        <a:t>Static HTML, CSS and JavaScript (no build), Firebase JS SDK, SVG and CSS 3D</a:t>
                      </a:r>
                    </a:p>
                  </a:txBody>
                  <a:tcPr marL="54864" marR="54864" marT="22860" marB="22860" anchor="ctr">
                    <a:solidFill>
                      <a:srgbClr val="FFFFFF"/>
                    </a:solidFill>
                  </a:tcPr>
                </a:tc>
                <a:tc>
                  <a:txBody>
                    <a:bodyPr wrap="square"/>
                    <a:lstStyle/>
                    <a:p>
                      <a:r>
                        <a:rPr sz="950" b="0" i="0">
                          <a:solidFill>
                            <a:srgbClr val="101828"/>
                          </a:solidFill>
                          <a:latin typeface="Arial"/>
                        </a:rPr>
                        <a:t>Three role workspaces, live Anvil Guard feed, itinerary, AI traces</a:t>
                      </a:r>
                    </a:p>
                  </a:txBody>
                  <a:tcPr marL="54864" marR="54864" marT="22860" marB="22860" anchor="ctr">
                    <a:solidFill>
                      <a:srgbClr val="FFFFFF"/>
                    </a:solidFill>
                  </a:tcPr>
                </a:tc>
              </a:tr>
              <a:tr h="475488">
                <a:tc>
                  <a:txBody>
                    <a:bodyPr wrap="square"/>
                    <a:lstStyle/>
                    <a:p>
                      <a:r>
                        <a:rPr sz="950" b="1" i="0">
                          <a:solidFill>
                            <a:srgbClr val="101828"/>
                          </a:solidFill>
                          <a:latin typeface="Arial"/>
                        </a:rPr>
                        <a:t>Quality</a:t>
                      </a:r>
                    </a:p>
                  </a:txBody>
                  <a:tcPr marL="54864" marR="54864" marT="22860" marB="22860" anchor="ctr">
                    <a:solidFill>
                      <a:srgbClr val="F2F4F7"/>
                    </a:solidFill>
                  </a:tcPr>
                </a:tc>
                <a:tc>
                  <a:txBody>
                    <a:bodyPr wrap="square"/>
                    <a:lstStyle/>
                    <a:p>
                      <a:r>
                        <a:rPr sz="950" b="0" i="0">
                          <a:solidFill>
                            <a:srgbClr val="101828"/>
                          </a:solidFill>
                          <a:latin typeface="Arial"/>
                        </a:rPr>
                        <a:t>About 340 automated checks in two modes, browser tests (Playwright), A2A interop test</a:t>
                      </a:r>
                    </a:p>
                  </a:txBody>
                  <a:tcPr marL="54864" marR="54864" marT="22860" marB="22860" anchor="ctr">
                    <a:solidFill>
                      <a:srgbClr val="F2F4F7"/>
                    </a:solidFill>
                  </a:tcPr>
                </a:tc>
                <a:tc>
                  <a:txBody>
                    <a:bodyPr wrap="square"/>
                    <a:lstStyle/>
                    <a:p>
                      <a:r>
                        <a:rPr sz="950" b="0" i="0">
                          <a:solidFill>
                            <a:srgbClr val="101828"/>
                          </a:solidFill>
                          <a:latin typeface="Arial"/>
                        </a:rPr>
                        <a:t>Regression safety; role flows, phone layouts, real-model smoke tests</a:t>
                      </a:r>
                    </a:p>
                  </a:txBody>
                  <a:tcPr marL="54864" marR="54864" marT="22860" marB="22860" anchor="ctr">
                    <a:solidFill>
                      <a:srgbClr val="F2F4F7"/>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graphicFrame>
        <p:nvGraphicFramePr>
          <p:cNvPr id="128" name="Table 127"/>
          <p:cNvGraphicFramePr>
            <a:graphicFrameLocks noGrp="1"/>
          </p:cNvGraphicFramePr>
          <p:nvPr/>
        </p:nvGraphicFramePr>
        <p:xfrm>
          <a:off x="274320" y="1143000"/>
          <a:ext cx="8595360" cy="2816352"/>
        </p:xfrm>
        <a:graphic>
          <a:graphicData uri="http://schemas.openxmlformats.org/drawingml/2006/table">
            <a:tbl>
              <a:tblPr firstRow="0" bandRow="0">
                <a:tableStyleId>{5940675A-B579-460E-94D1-54222C63F5DA}</a:tableStyleId>
              </a:tblPr>
              <a:tblGrid>
                <a:gridCol w="2926080"/>
                <a:gridCol w="2743200"/>
                <a:gridCol w="2926080"/>
              </a:tblGrid>
              <a:tr h="402336">
                <a:tc>
                  <a:txBody>
                    <a:bodyPr wrap="square"/>
                    <a:lstStyle/>
                    <a:p>
                      <a:r>
                        <a:rPr sz="1000" b="1" i="0">
                          <a:solidFill>
                            <a:srgbClr val="FFFFFF"/>
                          </a:solidFill>
                          <a:latin typeface="Arial"/>
                        </a:rPr>
                        <a:t>Item</a:t>
                      </a:r>
                    </a:p>
                  </a:txBody>
                  <a:tcPr marL="54864" marR="54864" marT="22860" marB="22860" anchor="ctr">
                    <a:solidFill>
                      <a:srgbClr val="3451D1"/>
                    </a:solidFill>
                  </a:tcPr>
                </a:tc>
                <a:tc>
                  <a:txBody>
                    <a:bodyPr wrap="square"/>
                    <a:lstStyle/>
                    <a:p>
                      <a:r>
                        <a:rPr sz="1000" b="1" i="0">
                          <a:solidFill>
                            <a:srgbClr val="FFFFFF"/>
                          </a:solidFill>
                          <a:latin typeface="Arial"/>
                        </a:rPr>
                        <a:t>Estimate</a:t>
                      </a:r>
                    </a:p>
                  </a:txBody>
                  <a:tcPr marL="54864" marR="54864" marT="22860" marB="22860" anchor="ctr">
                    <a:solidFill>
                      <a:srgbClr val="3451D1"/>
                    </a:solidFill>
                  </a:tcPr>
                </a:tc>
                <a:tc>
                  <a:txBody>
                    <a:bodyPr wrap="square"/>
                    <a:lstStyle/>
                    <a:p>
                      <a:r>
                        <a:rPr sz="1000" b="1" i="0">
                          <a:solidFill>
                            <a:srgbClr val="FFFFFF"/>
                          </a:solidFill>
                          <a:latin typeface="Arial"/>
                        </a:rPr>
                        <a:t>Basis</a:t>
                      </a:r>
                    </a:p>
                  </a:txBody>
                  <a:tcPr marL="54864" marR="54864" marT="22860" marB="22860" anchor="ctr">
                    <a:solidFill>
                      <a:srgbClr val="3451D1"/>
                    </a:solidFill>
                  </a:tcPr>
                </a:tc>
              </a:tr>
              <a:tr h="402336">
                <a:tc>
                  <a:txBody>
                    <a:bodyPr wrap="square"/>
                    <a:lstStyle/>
                    <a:p>
                      <a:r>
                        <a:rPr sz="1000" b="1" i="0">
                          <a:solidFill>
                            <a:srgbClr val="101828"/>
                          </a:solidFill>
                          <a:latin typeface="Arial"/>
                        </a:rPr>
                        <a:t>One Gemini audit</a:t>
                      </a:r>
                    </a:p>
                  </a:txBody>
                  <a:tcPr marL="54864" marR="54864" marT="22860" marB="22860" anchor="ctr">
                    <a:solidFill>
                      <a:srgbClr val="FFFFFF"/>
                    </a:solidFill>
                  </a:tcPr>
                </a:tc>
                <a:tc>
                  <a:txBody>
                    <a:bodyPr wrap="square"/>
                    <a:lstStyle/>
                    <a:p>
                      <a:r>
                        <a:rPr sz="1000" b="0" i="0">
                          <a:solidFill>
                            <a:srgbClr val="101828"/>
                          </a:solidFill>
                          <a:latin typeface="Arial"/>
                        </a:rPr>
                        <a:t>about $0.002</a:t>
                      </a:r>
                    </a:p>
                  </a:txBody>
                  <a:tcPr marL="54864" marR="54864" marT="22860" marB="22860" anchor="ctr">
                    <a:solidFill>
                      <a:srgbClr val="FFFFFF"/>
                    </a:solidFill>
                  </a:tcPr>
                </a:tc>
                <a:tc>
                  <a:txBody>
                    <a:bodyPr wrap="square"/>
                    <a:lstStyle/>
                    <a:p>
                      <a:r>
                        <a:rPr sz="1000" b="0" i="0">
                          <a:solidFill>
                            <a:srgbClr val="101828"/>
                          </a:solidFill>
                          <a:latin typeface="Arial"/>
                        </a:rPr>
                        <a:t>Measured tokens x Vertex AI list price</a:t>
                      </a:r>
                    </a:p>
                  </a:txBody>
                  <a:tcPr marL="54864" marR="54864" marT="22860" marB="22860" anchor="ctr">
                    <a:solidFill>
                      <a:srgbClr val="FFFFFF"/>
                    </a:solidFill>
                  </a:tcPr>
                </a:tc>
              </a:tr>
              <a:tr h="402336">
                <a:tc>
                  <a:txBody>
                    <a:bodyPr wrap="square"/>
                    <a:lstStyle/>
                    <a:p>
                      <a:r>
                        <a:rPr sz="1000" b="1" i="0">
                          <a:solidFill>
                            <a:srgbClr val="101828"/>
                          </a:solidFill>
                          <a:latin typeface="Arial"/>
                        </a:rPr>
                        <a:t>One five-leg trip (1 plan + 5 audits)</a:t>
                      </a:r>
                    </a:p>
                  </a:txBody>
                  <a:tcPr marL="54864" marR="54864" marT="22860" marB="22860" anchor="ctr">
                    <a:solidFill>
                      <a:srgbClr val="F2F4F7"/>
                    </a:solidFill>
                  </a:tcPr>
                </a:tc>
                <a:tc>
                  <a:txBody>
                    <a:bodyPr wrap="square"/>
                    <a:lstStyle/>
                    <a:p>
                      <a:r>
                        <a:rPr sz="1000" b="0" i="0">
                          <a:solidFill>
                            <a:srgbClr val="101828"/>
                          </a:solidFill>
                          <a:latin typeface="Arial"/>
                        </a:rPr>
                        <a:t>about $0.015</a:t>
                      </a:r>
                    </a:p>
                  </a:txBody>
                  <a:tcPr marL="54864" marR="54864" marT="22860" marB="22860" anchor="ctr">
                    <a:solidFill>
                      <a:srgbClr val="F2F4F7"/>
                    </a:solidFill>
                  </a:tcPr>
                </a:tc>
                <a:tc>
                  <a:txBody>
                    <a:bodyPr wrap="square"/>
                    <a:lstStyle/>
                    <a:p>
                      <a:r>
                        <a:rPr sz="1000" b="0" i="0">
                          <a:solidFill>
                            <a:srgbClr val="101828"/>
                          </a:solidFill>
                          <a:latin typeface="Arial"/>
                        </a:rPr>
                        <a:t>Same</a:t>
                      </a:r>
                    </a:p>
                  </a:txBody>
                  <a:tcPr marL="54864" marR="54864" marT="22860" marB="22860" anchor="ctr">
                    <a:solidFill>
                      <a:srgbClr val="F2F4F7"/>
                    </a:solidFill>
                  </a:tcPr>
                </a:tc>
              </a:tr>
              <a:tr h="402336">
                <a:tc>
                  <a:txBody>
                    <a:bodyPr wrap="square"/>
                    <a:lstStyle/>
                    <a:p>
                      <a:r>
                        <a:rPr sz="1000" b="1" i="0">
                          <a:solidFill>
                            <a:srgbClr val="101828"/>
                          </a:solidFill>
                          <a:latin typeface="Arial"/>
                        </a:rPr>
                        <a:t>10,000 audited bookings per month</a:t>
                      </a:r>
                    </a:p>
                  </a:txBody>
                  <a:tcPr marL="54864" marR="54864" marT="22860" marB="22860" anchor="ctr">
                    <a:solidFill>
                      <a:srgbClr val="FFFFFF"/>
                    </a:solidFill>
                  </a:tcPr>
                </a:tc>
                <a:tc>
                  <a:txBody>
                    <a:bodyPr wrap="square"/>
                    <a:lstStyle/>
                    <a:p>
                      <a:r>
                        <a:rPr sz="1000" b="0" i="0">
                          <a:solidFill>
                            <a:srgbClr val="101828"/>
                          </a:solidFill>
                          <a:latin typeface="Arial"/>
                        </a:rPr>
                        <a:t>about $20 of Gemini</a:t>
                      </a:r>
                    </a:p>
                  </a:txBody>
                  <a:tcPr marL="54864" marR="54864" marT="22860" marB="22860" anchor="ctr">
                    <a:solidFill>
                      <a:srgbClr val="FFFFFF"/>
                    </a:solidFill>
                  </a:tcPr>
                </a:tc>
                <a:tc>
                  <a:txBody>
                    <a:bodyPr wrap="square"/>
                    <a:lstStyle/>
                    <a:p>
                      <a:r>
                        <a:rPr sz="1000" b="0" i="0">
                          <a:solidFill>
                            <a:srgbClr val="101828"/>
                          </a:solidFill>
                          <a:latin typeface="Arial"/>
                        </a:rPr>
                        <a:t>10,000 x $0.002</a:t>
                      </a:r>
                    </a:p>
                  </a:txBody>
                  <a:tcPr marL="54864" marR="54864" marT="22860" marB="22860" anchor="ctr">
                    <a:solidFill>
                      <a:srgbClr val="FFFFFF"/>
                    </a:solidFill>
                  </a:tcPr>
                </a:tc>
              </a:tr>
              <a:tr h="402336">
                <a:tc>
                  <a:txBody>
                    <a:bodyPr wrap="square"/>
                    <a:lstStyle/>
                    <a:p>
                      <a:r>
                        <a:rPr sz="1000" b="1" i="0">
                          <a:solidFill>
                            <a:srgbClr val="101828"/>
                          </a:solidFill>
                          <a:latin typeface="Arial"/>
                        </a:rPr>
                        <a:t>Cloud Run</a:t>
                      </a:r>
                    </a:p>
                  </a:txBody>
                  <a:tcPr marL="54864" marR="54864" marT="22860" marB="22860" anchor="ctr">
                    <a:solidFill>
                      <a:srgbClr val="F2F4F7"/>
                    </a:solidFill>
                  </a:tcPr>
                </a:tc>
                <a:tc>
                  <a:txBody>
                    <a:bodyPr wrap="square"/>
                    <a:lstStyle/>
                    <a:p>
                      <a:r>
                        <a:rPr sz="1000" b="0" i="0">
                          <a:solidFill>
                            <a:srgbClr val="101828"/>
                          </a:solidFill>
                          <a:latin typeface="Arial"/>
                        </a:rPr>
                        <a:t>Scales to zero; one always-on instance about $7 to $8 a month</a:t>
                      </a:r>
                    </a:p>
                  </a:txBody>
                  <a:tcPr marL="54864" marR="54864" marT="22860" marB="22860" anchor="ctr">
                    <a:solidFill>
                      <a:srgbClr val="F2F4F7"/>
                    </a:solidFill>
                  </a:tcPr>
                </a:tc>
                <a:tc>
                  <a:txBody>
                    <a:bodyPr wrap="square"/>
                    <a:lstStyle/>
                    <a:p>
                      <a:r>
                        <a:rPr sz="1000" b="0" i="0">
                          <a:solidFill>
                            <a:srgbClr val="101828"/>
                          </a:solidFill>
                          <a:latin typeface="Arial"/>
                        </a:rPr>
                        <a:t>List-price estimate</a:t>
                      </a:r>
                    </a:p>
                  </a:txBody>
                  <a:tcPr marL="54864" marR="54864" marT="22860" marB="22860" anchor="ctr">
                    <a:solidFill>
                      <a:srgbClr val="F2F4F7"/>
                    </a:solidFill>
                  </a:tcPr>
                </a:tc>
              </a:tr>
              <a:tr h="402336">
                <a:tc>
                  <a:txBody>
                    <a:bodyPr wrap="square"/>
                    <a:lstStyle/>
                    <a:p>
                      <a:r>
                        <a:rPr sz="1000" b="1" i="0">
                          <a:solidFill>
                            <a:srgbClr val="101828"/>
                          </a:solidFill>
                          <a:latin typeface="Arial"/>
                        </a:rPr>
                        <a:t>Firestore, Hosting, Secret Manager</a:t>
                      </a:r>
                    </a:p>
                  </a:txBody>
                  <a:tcPr marL="54864" marR="54864" marT="22860" marB="22860" anchor="ctr">
                    <a:solidFill>
                      <a:srgbClr val="FFFFFF"/>
                    </a:solidFill>
                  </a:tcPr>
                </a:tc>
                <a:tc>
                  <a:txBody>
                    <a:bodyPr wrap="square"/>
                    <a:lstStyle/>
                    <a:p>
                      <a:r>
                        <a:rPr sz="1000" b="0" i="0">
                          <a:solidFill>
                            <a:srgbClr val="101828"/>
                          </a:solidFill>
                          <a:latin typeface="Arial"/>
                        </a:rPr>
                        <a:t>Free tier at demo scale; under $1 per 10,000 decisions</a:t>
                      </a:r>
                    </a:p>
                  </a:txBody>
                  <a:tcPr marL="54864" marR="54864" marT="22860" marB="22860" anchor="ctr">
                    <a:solidFill>
                      <a:srgbClr val="FFFFFF"/>
                    </a:solidFill>
                  </a:tcPr>
                </a:tc>
                <a:tc>
                  <a:txBody>
                    <a:bodyPr wrap="square"/>
                    <a:lstStyle/>
                    <a:p>
                      <a:r>
                        <a:rPr sz="1000" b="0" i="0">
                          <a:solidFill>
                            <a:srgbClr val="101828"/>
                          </a:solidFill>
                          <a:latin typeface="Arial"/>
                        </a:rPr>
                        <a:t>Estimate</a:t>
                      </a:r>
                    </a:p>
                  </a:txBody>
                  <a:tcPr marL="54864" marR="54864" marT="22860" marB="22860" anchor="ctr">
                    <a:solidFill>
                      <a:srgbClr val="FFFFFF"/>
                    </a:solidFill>
                  </a:tcPr>
                </a:tc>
              </a:tr>
              <a:tr h="402336">
                <a:tc>
                  <a:txBody>
                    <a:bodyPr wrap="square"/>
                    <a:lstStyle/>
                    <a:p>
                      <a:r>
                        <a:rPr sz="1000" b="1" i="0">
                          <a:solidFill>
                            <a:srgbClr val="101828"/>
                          </a:solidFill>
                          <a:latin typeface="Arial"/>
                        </a:rPr>
                        <a:t>Third-party services</a:t>
                      </a:r>
                    </a:p>
                  </a:txBody>
                  <a:tcPr marL="54864" marR="54864" marT="22860" marB="22860" anchor="ctr">
                    <a:solidFill>
                      <a:srgbClr val="F2F4F7"/>
                    </a:solidFill>
                  </a:tcPr>
                </a:tc>
                <a:tc>
                  <a:txBody>
                    <a:bodyPr wrap="square"/>
                    <a:lstStyle/>
                    <a:p>
                      <a:r>
                        <a:rPr sz="1000" b="0" i="0">
                          <a:solidFill>
                            <a:srgbClr val="101828"/>
                          </a:solidFill>
                          <a:latin typeface="Arial"/>
                        </a:rPr>
                        <a:t>None: runs only on Google Cloud</a:t>
                      </a:r>
                    </a:p>
                  </a:txBody>
                  <a:tcPr marL="54864" marR="54864" marT="22860" marB="22860" anchor="ctr">
                    <a:solidFill>
                      <a:srgbClr val="F2F4F7"/>
                    </a:solidFill>
                  </a:tcPr>
                </a:tc>
                <a:tc>
                  <a:txBody>
                    <a:bodyPr wrap="square"/>
                    <a:lstStyle/>
                    <a:p>
                      <a:r>
                        <a:rPr sz="1000" b="0" i="0">
                          <a:solidFill>
                            <a:srgbClr val="101828"/>
                          </a:solidFill>
                          <a:latin typeface="Arial"/>
                        </a:rPr>
                        <a:t>-</a:t>
                      </a:r>
                    </a:p>
                  </a:txBody>
                  <a:tcPr marL="54864" marR="54864" marT="22860" marB="22860" anchor="ctr">
                    <a:solidFill>
                      <a:srgbClr val="F2F4F7"/>
                    </a:solidFill>
                  </a:tcPr>
                </a:tc>
              </a:tr>
            </a:tbl>
          </a:graphicData>
        </a:graphic>
      </p:graphicFrame>
      <p:sp>
        <p:nvSpPr>
          <p:cNvPr id="129" name="TextBox 128"/>
          <p:cNvSpPr txBox="1"/>
          <p:nvPr/>
        </p:nvSpPr>
        <p:spPr>
          <a:xfrm>
            <a:off x="274320" y="4114800"/>
            <a:ext cx="8595360" cy="457200"/>
          </a:xfrm>
          <a:prstGeom prst="rect">
            <a:avLst/>
          </a:prstGeom>
          <a:noFill/>
        </p:spPr>
        <p:txBody>
          <a:bodyPr wrap="square" anchor="t" lIns="36576" rIns="36576" tIns="18288" bIns="18288">
            <a:spAutoFit/>
          </a:bodyPr>
          <a:lstStyle/>
          <a:p>
            <a:pPr>
              <a:spcAft>
                <a:spcPts val="200"/>
              </a:spcAft>
            </a:pPr>
            <a:r>
              <a:rPr sz="950" b="0" i="1">
                <a:solidFill>
                  <a:srgbClr val="667085"/>
                </a:solidFill>
                <a:latin typeface="Arial"/>
              </a:rPr>
              <a:t>Estimates from list prices, not billing data. A production deployment adds real supplier and payment integrations and single sign-on.</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04_guard_done.png"/>
          <p:cNvPicPr>
            <a:picLocks noChangeAspect="1"/>
          </p:cNvPicPr>
          <p:nvPr/>
        </p:nvPicPr>
        <p:blipFill>
          <a:blip r:embed="rId5"/>
          <a:stretch>
            <a:fillRect/>
          </a:stretch>
        </p:blipFill>
        <p:spPr>
          <a:xfrm>
            <a:off x="274320" y="1097280"/>
            <a:ext cx="2788920" cy="1568002"/>
          </a:xfrm>
          <a:prstGeom prst="rect">
            <a:avLst/>
          </a:prstGeom>
          <a:ln>
            <a:solidFill>
              <a:srgbClr val="D0D5DD"/>
            </a:solidFill>
          </a:ln>
        </p:spPr>
      </p:pic>
      <p:sp>
        <p:nvSpPr>
          <p:cNvPr id="137" name="TextBox 136"/>
          <p:cNvSpPr txBox="1"/>
          <p:nvPr/>
        </p:nvSpPr>
        <p:spPr>
          <a:xfrm>
            <a:off x="274320" y="2688336"/>
            <a:ext cx="2788920" cy="274320"/>
          </a:xfrm>
          <a:prstGeom prst="rect">
            <a:avLst/>
          </a:prstGeom>
          <a:noFill/>
        </p:spPr>
        <p:txBody>
          <a:bodyPr wrap="square" anchor="t" lIns="36576" rIns="36576" tIns="18288" bIns="18288">
            <a:spAutoFit/>
          </a:bodyPr>
          <a:lstStyle/>
          <a:p>
            <a:pPr>
              <a:spcAft>
                <a:spcPts val="200"/>
              </a:spcAft>
            </a:pPr>
            <a:r>
              <a:rPr sz="850" b="0" i="0">
                <a:solidFill>
                  <a:srgbClr val="667085"/>
                </a:solidFill>
                <a:latin typeface="Arial"/>
              </a:rPr>
              <a:t>Business class blocked, agent corrected</a:t>
            </a:r>
          </a:p>
        </p:txBody>
      </p:sp>
      <p:pic>
        <p:nvPicPr>
          <p:cNvPr id="138" name="Picture 137" descr="08_trip_approved.png"/>
          <p:cNvPicPr>
            <a:picLocks noChangeAspect="1"/>
          </p:cNvPicPr>
          <p:nvPr/>
        </p:nvPicPr>
        <p:blipFill>
          <a:blip r:embed="rId6"/>
          <a:stretch>
            <a:fillRect/>
          </a:stretch>
        </p:blipFill>
        <p:spPr>
          <a:xfrm>
            <a:off x="3172968" y="1097280"/>
            <a:ext cx="2788920" cy="1568002"/>
          </a:xfrm>
          <a:prstGeom prst="rect">
            <a:avLst/>
          </a:prstGeom>
          <a:ln>
            <a:solidFill>
              <a:srgbClr val="D0D5DD"/>
            </a:solidFill>
          </a:ln>
        </p:spPr>
      </p:pic>
      <p:sp>
        <p:nvSpPr>
          <p:cNvPr id="139" name="TextBox 138"/>
          <p:cNvSpPr txBox="1"/>
          <p:nvPr/>
        </p:nvSpPr>
        <p:spPr>
          <a:xfrm>
            <a:off x="3172968" y="2688336"/>
            <a:ext cx="2788920" cy="274320"/>
          </a:xfrm>
          <a:prstGeom prst="rect">
            <a:avLst/>
          </a:prstGeom>
          <a:noFill/>
        </p:spPr>
        <p:txBody>
          <a:bodyPr wrap="square" anchor="t" lIns="36576" rIns="36576" tIns="18288" bIns="18288">
            <a:spAutoFit/>
          </a:bodyPr>
          <a:lstStyle/>
          <a:p>
            <a:pPr>
              <a:spcAft>
                <a:spcPts val="200"/>
              </a:spcAft>
            </a:pPr>
            <a:r>
              <a:rPr sz="850" b="0" i="0">
                <a:solidFill>
                  <a:srgbClr val="667085"/>
                </a:solidFill>
                <a:latin typeface="Arial"/>
              </a:rPr>
              <a:t>Final itinerary with booking refs</a:t>
            </a:r>
          </a:p>
        </p:txBody>
      </p:sp>
      <p:pic>
        <p:nvPicPr>
          <p:cNvPr id="140" name="Picture 139" descr="07_approval.png"/>
          <p:cNvPicPr>
            <a:picLocks noChangeAspect="1"/>
          </p:cNvPicPr>
          <p:nvPr/>
        </p:nvPicPr>
        <p:blipFill>
          <a:blip r:embed="rId7"/>
          <a:stretch>
            <a:fillRect/>
          </a:stretch>
        </p:blipFill>
        <p:spPr>
          <a:xfrm>
            <a:off x="6071616" y="1097280"/>
            <a:ext cx="2788920" cy="1568002"/>
          </a:xfrm>
          <a:prstGeom prst="rect">
            <a:avLst/>
          </a:prstGeom>
          <a:ln>
            <a:solidFill>
              <a:srgbClr val="D0D5DD"/>
            </a:solidFill>
          </a:ln>
        </p:spPr>
      </p:pic>
      <p:sp>
        <p:nvSpPr>
          <p:cNvPr id="141" name="TextBox 140"/>
          <p:cNvSpPr txBox="1"/>
          <p:nvPr/>
        </p:nvSpPr>
        <p:spPr>
          <a:xfrm>
            <a:off x="6071616" y="2688336"/>
            <a:ext cx="2788920" cy="274320"/>
          </a:xfrm>
          <a:prstGeom prst="rect">
            <a:avLst/>
          </a:prstGeom>
          <a:noFill/>
        </p:spPr>
        <p:txBody>
          <a:bodyPr wrap="square" anchor="t" lIns="36576" rIns="36576" tIns="18288" bIns="18288">
            <a:spAutoFit/>
          </a:bodyPr>
          <a:lstStyle/>
          <a:p>
            <a:pPr>
              <a:spcAft>
                <a:spcPts val="200"/>
              </a:spcAft>
            </a:pPr>
            <a:r>
              <a:rPr sz="850" b="0" i="0">
                <a:solidFill>
                  <a:srgbClr val="667085"/>
                </a:solidFill>
                <a:latin typeface="Arial"/>
              </a:rPr>
              <a:t>Finance approves a whole trip</a:t>
            </a:r>
          </a:p>
        </p:txBody>
      </p:sp>
      <p:pic>
        <p:nvPicPr>
          <p:cNvPr id="142" name="Picture 141" descr="12_ai_trace.png"/>
          <p:cNvPicPr>
            <a:picLocks noChangeAspect="1"/>
          </p:cNvPicPr>
          <p:nvPr/>
        </p:nvPicPr>
        <p:blipFill>
          <a:blip r:embed="rId8"/>
          <a:stretch>
            <a:fillRect/>
          </a:stretch>
        </p:blipFill>
        <p:spPr>
          <a:xfrm>
            <a:off x="274320" y="2926080"/>
            <a:ext cx="2788920" cy="1568002"/>
          </a:xfrm>
          <a:prstGeom prst="rect">
            <a:avLst/>
          </a:prstGeom>
          <a:ln>
            <a:solidFill>
              <a:srgbClr val="D0D5DD"/>
            </a:solidFill>
          </a:ln>
        </p:spPr>
      </p:pic>
      <p:sp>
        <p:nvSpPr>
          <p:cNvPr id="143" name="TextBox 142"/>
          <p:cNvSpPr txBox="1"/>
          <p:nvPr/>
        </p:nvSpPr>
        <p:spPr>
          <a:xfrm>
            <a:off x="274320" y="4517136"/>
            <a:ext cx="2788920" cy="274320"/>
          </a:xfrm>
          <a:prstGeom prst="rect">
            <a:avLst/>
          </a:prstGeom>
          <a:noFill/>
        </p:spPr>
        <p:txBody>
          <a:bodyPr wrap="square" anchor="t" lIns="36576" rIns="36576" tIns="18288" bIns="18288">
            <a:spAutoFit/>
          </a:bodyPr>
          <a:lstStyle/>
          <a:p>
            <a:pPr>
              <a:spcAft>
                <a:spcPts val="200"/>
              </a:spcAft>
            </a:pPr>
            <a:r>
              <a:rPr sz="850" b="0" i="0">
                <a:solidFill>
                  <a:srgbClr val="667085"/>
                </a:solidFill>
                <a:latin typeface="Arial"/>
              </a:rPr>
              <a:t>AI traces: exact Gemini input and output</a:t>
            </a:r>
          </a:p>
        </p:txBody>
      </p:sp>
      <p:pic>
        <p:nvPicPr>
          <p:cNvPr id="144" name="Picture 143" descr="15_protected_block.png"/>
          <p:cNvPicPr>
            <a:picLocks noChangeAspect="1"/>
          </p:cNvPicPr>
          <p:nvPr/>
        </p:nvPicPr>
        <p:blipFill>
          <a:blip r:embed="rId9"/>
          <a:stretch>
            <a:fillRect/>
          </a:stretch>
        </p:blipFill>
        <p:spPr>
          <a:xfrm>
            <a:off x="3172968" y="2926080"/>
            <a:ext cx="2788920" cy="1568002"/>
          </a:xfrm>
          <a:prstGeom prst="rect">
            <a:avLst/>
          </a:prstGeom>
          <a:ln>
            <a:solidFill>
              <a:srgbClr val="D0D5DD"/>
            </a:solidFill>
          </a:ln>
        </p:spPr>
      </p:pic>
      <p:sp>
        <p:nvSpPr>
          <p:cNvPr id="145" name="TextBox 144"/>
          <p:cNvSpPr txBox="1"/>
          <p:nvPr/>
        </p:nvSpPr>
        <p:spPr>
          <a:xfrm>
            <a:off x="3172968" y="4517136"/>
            <a:ext cx="2788920" cy="274320"/>
          </a:xfrm>
          <a:prstGeom prst="rect">
            <a:avLst/>
          </a:prstGeom>
          <a:noFill/>
        </p:spPr>
        <p:txBody>
          <a:bodyPr wrap="square" anchor="t" lIns="36576" rIns="36576" tIns="18288" bIns="18288">
            <a:spAutoFit/>
          </a:bodyPr>
          <a:lstStyle/>
          <a:p>
            <a:pPr>
              <a:spcAft>
                <a:spcPts val="200"/>
              </a:spcAft>
            </a:pPr>
            <a:r>
              <a:rPr sz="850" b="0" i="0">
                <a:solidFill>
                  <a:srgbClr val="667085"/>
                </a:solidFill>
                <a:latin typeface="Arial"/>
              </a:rPr>
              <a:t>Unprotected vs protected contrast</a:t>
            </a:r>
          </a:p>
        </p:txBody>
      </p:sp>
      <p:pic>
        <p:nvPicPr>
          <p:cNvPr id="146" name="Picture 145" descr="16_second_domain.png"/>
          <p:cNvPicPr>
            <a:picLocks noChangeAspect="1"/>
          </p:cNvPicPr>
          <p:nvPr/>
        </p:nvPicPr>
        <p:blipFill>
          <a:blip r:embed="rId10"/>
          <a:stretch>
            <a:fillRect/>
          </a:stretch>
        </p:blipFill>
        <p:spPr>
          <a:xfrm>
            <a:off x="6071616" y="2926080"/>
            <a:ext cx="2788920" cy="1568002"/>
          </a:xfrm>
          <a:prstGeom prst="rect">
            <a:avLst/>
          </a:prstGeom>
          <a:ln>
            <a:solidFill>
              <a:srgbClr val="D0D5DD"/>
            </a:solidFill>
          </a:ln>
        </p:spPr>
      </p:pic>
      <p:sp>
        <p:nvSpPr>
          <p:cNvPr id="147" name="TextBox 146"/>
          <p:cNvSpPr txBox="1"/>
          <p:nvPr/>
        </p:nvSpPr>
        <p:spPr>
          <a:xfrm>
            <a:off x="6071616" y="4517136"/>
            <a:ext cx="2788920" cy="274320"/>
          </a:xfrm>
          <a:prstGeom prst="rect">
            <a:avLst/>
          </a:prstGeom>
          <a:noFill/>
        </p:spPr>
        <p:txBody>
          <a:bodyPr wrap="square" anchor="t" lIns="36576" rIns="36576" tIns="18288" bIns="18288">
            <a:spAutoFit/>
          </a:bodyPr>
          <a:lstStyle/>
          <a:p>
            <a:pPr>
              <a:spcAft>
                <a:spcPts val="200"/>
              </a:spcAft>
            </a:pPr>
            <a:r>
              <a:rPr sz="850" b="0" i="0">
                <a:solidFill>
                  <a:srgbClr val="667085"/>
                </a:solidFill>
                <a:latin typeface="Arial"/>
              </a:rPr>
              <a:t>Same engine, second domain: software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graphicFrame>
        <p:nvGraphicFramePr>
          <p:cNvPr id="144" name="Table 143"/>
          <p:cNvGraphicFramePr>
            <a:graphicFrameLocks noGrp="1"/>
          </p:cNvGraphicFramePr>
          <p:nvPr/>
        </p:nvGraphicFramePr>
        <p:xfrm>
          <a:off x="274320" y="1115568"/>
          <a:ext cx="8595360" cy="3127248"/>
        </p:xfrm>
        <a:graphic>
          <a:graphicData uri="http://schemas.openxmlformats.org/drawingml/2006/table">
            <a:tbl>
              <a:tblPr firstRow="0" bandRow="0">
                <a:tableStyleId>{5940675A-B579-460E-94D1-54222C63F5DA}</a:tableStyleId>
              </a:tblPr>
              <a:tblGrid>
                <a:gridCol w="2377440"/>
                <a:gridCol w="2834640"/>
                <a:gridCol w="3383280"/>
              </a:tblGrid>
              <a:tr h="347472">
                <a:tc>
                  <a:txBody>
                    <a:bodyPr wrap="square"/>
                    <a:lstStyle/>
                    <a:p>
                      <a:r>
                        <a:rPr sz="950" b="1" i="0">
                          <a:solidFill>
                            <a:srgbClr val="FFFFFF"/>
                          </a:solidFill>
                          <a:latin typeface="Arial"/>
                        </a:rPr>
                        <a:t>Metric</a:t>
                      </a:r>
                    </a:p>
                  </a:txBody>
                  <a:tcPr marL="54864" marR="54864" marT="22860" marB="22860" anchor="ctr">
                    <a:solidFill>
                      <a:srgbClr val="3451D1"/>
                    </a:solidFill>
                  </a:tcPr>
                </a:tc>
                <a:tc>
                  <a:txBody>
                    <a:bodyPr wrap="square"/>
                    <a:lstStyle/>
                    <a:p>
                      <a:r>
                        <a:rPr sz="950" b="1" i="0">
                          <a:solidFill>
                            <a:srgbClr val="FFFFFF"/>
                          </a:solidFill>
                          <a:latin typeface="Arial"/>
                        </a:rPr>
                        <a:t>Result</a:t>
                      </a:r>
                    </a:p>
                  </a:txBody>
                  <a:tcPr marL="54864" marR="54864" marT="22860" marB="22860" anchor="ctr">
                    <a:solidFill>
                      <a:srgbClr val="3451D1"/>
                    </a:solidFill>
                  </a:tcPr>
                </a:tc>
                <a:tc>
                  <a:txBody>
                    <a:bodyPr wrap="square"/>
                    <a:lstStyle/>
                    <a:p>
                      <a:r>
                        <a:rPr sz="950" b="1" i="0">
                          <a:solidFill>
                            <a:srgbClr val="FFFFFF"/>
                          </a:solidFill>
                          <a:latin typeface="Arial"/>
                        </a:rPr>
                        <a:t>How it was measured</a:t>
                      </a:r>
                    </a:p>
                  </a:txBody>
                  <a:tcPr marL="54864" marR="54864" marT="22860" marB="22860" anchor="ctr">
                    <a:solidFill>
                      <a:srgbClr val="3451D1"/>
                    </a:solidFill>
                  </a:tcPr>
                </a:tc>
              </a:tr>
              <a:tr h="347472">
                <a:tc>
                  <a:txBody>
                    <a:bodyPr wrap="square"/>
                    <a:lstStyle/>
                    <a:p>
                      <a:r>
                        <a:rPr sz="950" b="1" i="0">
                          <a:solidFill>
                            <a:srgbClr val="101828"/>
                          </a:solidFill>
                          <a:latin typeface="Arial"/>
                        </a:rPr>
                        <a:t>Violations caught (travel)</a:t>
                      </a:r>
                    </a:p>
                  </a:txBody>
                  <a:tcPr marL="54864" marR="54864" marT="22860" marB="22860" anchor="ctr">
                    <a:solidFill>
                      <a:srgbClr val="FFFFFF"/>
                    </a:solidFill>
                  </a:tcPr>
                </a:tc>
                <a:tc>
                  <a:txBody>
                    <a:bodyPr wrap="square"/>
                    <a:lstStyle/>
                    <a:p>
                      <a:r>
                        <a:rPr sz="950" b="0" i="0">
                          <a:solidFill>
                            <a:srgbClr val="101828"/>
                          </a:solidFill>
                          <a:latin typeface="Arial"/>
                        </a:rPr>
                        <a:t>19 of 19 (rules-only baseline: 10 of 19)</a:t>
                      </a:r>
                    </a:p>
                  </a:txBody>
                  <a:tcPr marL="54864" marR="54864" marT="22860" marB="22860" anchor="ctr">
                    <a:solidFill>
                      <a:srgbClr val="FFFFFF"/>
                    </a:solidFill>
                  </a:tcPr>
                </a:tc>
                <a:tc>
                  <a:txBody>
                    <a:bodyPr wrap="square"/>
                    <a:lstStyle/>
                    <a:p>
                      <a:r>
                        <a:rPr sz="950" b="0" i="0">
                          <a:solidFill>
                            <a:srgbClr val="101828"/>
                          </a:solidFill>
                          <a:latin typeface="Arial"/>
                        </a:rPr>
                        <a:t>26 scenarios x 3 live Gemini repeats</a:t>
                      </a:r>
                    </a:p>
                  </a:txBody>
                  <a:tcPr marL="54864" marR="54864" marT="22860" marB="22860" anchor="ctr">
                    <a:solidFill>
                      <a:srgbClr val="FFFFFF"/>
                    </a:solidFill>
                  </a:tcPr>
                </a:tc>
              </a:tr>
              <a:tr h="347472">
                <a:tc>
                  <a:txBody>
                    <a:bodyPr wrap="square"/>
                    <a:lstStyle/>
                    <a:p>
                      <a:r>
                        <a:rPr sz="950" b="1" i="0">
                          <a:solidFill>
                            <a:srgbClr val="101828"/>
                          </a:solidFill>
                          <a:latin typeface="Arial"/>
                        </a:rPr>
                        <a:t>False blocks</a:t>
                      </a:r>
                    </a:p>
                  </a:txBody>
                  <a:tcPr marL="54864" marR="54864" marT="22860" marB="22860" anchor="ctr">
                    <a:solidFill>
                      <a:srgbClr val="F2F4F7"/>
                    </a:solidFill>
                  </a:tcPr>
                </a:tc>
                <a:tc>
                  <a:txBody>
                    <a:bodyPr wrap="square"/>
                    <a:lstStyle/>
                    <a:p>
                      <a:r>
                        <a:rPr sz="950" b="0" i="0">
                          <a:solidFill>
                            <a:srgbClr val="101828"/>
                          </a:solidFill>
                          <a:latin typeface="Arial"/>
                        </a:rPr>
                        <a:t>0 of 7 legitimate actions</a:t>
                      </a:r>
                    </a:p>
                  </a:txBody>
                  <a:tcPr marL="54864" marR="54864" marT="22860" marB="22860" anchor="ctr">
                    <a:solidFill>
                      <a:srgbClr val="F2F4F7"/>
                    </a:solidFill>
                  </a:tcPr>
                </a:tc>
                <a:tc>
                  <a:txBody>
                    <a:bodyPr wrap="square"/>
                    <a:lstStyle/>
                    <a:p>
                      <a:r>
                        <a:rPr sz="950" b="0" i="0">
                          <a:solidFill>
                            <a:srgbClr val="101828"/>
                          </a:solidFill>
                          <a:latin typeface="Arial"/>
                        </a:rPr>
                        <a:t>Same set, including exactly-at-the-limit cases</a:t>
                      </a:r>
                    </a:p>
                  </a:txBody>
                  <a:tcPr marL="54864" marR="54864" marT="22860" marB="22860" anchor="ctr">
                    <a:solidFill>
                      <a:srgbClr val="F2F4F7"/>
                    </a:solidFill>
                  </a:tcPr>
                </a:tc>
              </a:tr>
              <a:tr h="347472">
                <a:tc>
                  <a:txBody>
                    <a:bodyPr wrap="square"/>
                    <a:lstStyle/>
                    <a:p>
                      <a:r>
                        <a:rPr sz="950" b="1" i="0">
                          <a:solidFill>
                            <a:srgbClr val="101828"/>
                          </a:solidFill>
                          <a:latin typeface="Arial"/>
                        </a:rPr>
                        <a:t>Stability</a:t>
                      </a:r>
                    </a:p>
                  </a:txBody>
                  <a:tcPr marL="54864" marR="54864" marT="22860" marB="22860" anchor="ctr">
                    <a:solidFill>
                      <a:srgbClr val="FFFFFF"/>
                    </a:solidFill>
                  </a:tcPr>
                </a:tc>
                <a:tc>
                  <a:txBody>
                    <a:bodyPr wrap="square"/>
                    <a:lstStyle/>
                    <a:p>
                      <a:r>
                        <a:rPr sz="950" b="0" i="0">
                          <a:solidFill>
                            <a:srgbClr val="101828"/>
                          </a:solidFill>
                          <a:latin typeface="Arial"/>
                        </a:rPr>
                        <a:t>26 of 26 verdicts identical across repeats</a:t>
                      </a:r>
                    </a:p>
                  </a:txBody>
                  <a:tcPr marL="54864" marR="54864" marT="22860" marB="22860" anchor="ctr">
                    <a:solidFill>
                      <a:srgbClr val="FFFFFF"/>
                    </a:solidFill>
                  </a:tcPr>
                </a:tc>
                <a:tc>
                  <a:txBody>
                    <a:bodyPr wrap="square"/>
                    <a:lstStyle/>
                    <a:p>
                      <a:r>
                        <a:rPr sz="950" b="0" i="0">
                          <a:solidFill>
                            <a:srgbClr val="101828"/>
                          </a:solidFill>
                          <a:latin typeface="Arial"/>
                        </a:rPr>
                        <a:t>Temperature 0, live Gemini, none served from cache</a:t>
                      </a:r>
                    </a:p>
                  </a:txBody>
                  <a:tcPr marL="54864" marR="54864" marT="22860" marB="22860" anchor="ctr">
                    <a:solidFill>
                      <a:srgbClr val="FFFFFF"/>
                    </a:solidFill>
                  </a:tcPr>
                </a:tc>
              </a:tr>
              <a:tr h="347472">
                <a:tc>
                  <a:txBody>
                    <a:bodyPr wrap="square"/>
                    <a:lstStyle/>
                    <a:p>
                      <a:r>
                        <a:rPr sz="950" b="1" i="0">
                          <a:solidFill>
                            <a:srgbClr val="101828"/>
                          </a:solidFill>
                          <a:latin typeface="Arial"/>
                        </a:rPr>
                        <a:t>Adversarial scenarios</a:t>
                      </a:r>
                    </a:p>
                  </a:txBody>
                  <a:tcPr marL="54864" marR="54864" marT="22860" marB="22860" anchor="ctr">
                    <a:solidFill>
                      <a:srgbClr val="F2F4F7"/>
                    </a:solidFill>
                  </a:tcPr>
                </a:tc>
                <a:tc>
                  <a:txBody>
                    <a:bodyPr wrap="square"/>
                    <a:lstStyle/>
                    <a:p>
                      <a:r>
                        <a:rPr sz="950" b="0" i="0">
                          <a:solidFill>
                            <a:srgbClr val="101828"/>
                          </a:solidFill>
                          <a:latin typeface="Arial"/>
                        </a:rPr>
                        <a:t>6 of 6 caught (rules-only: 4 of 6)</a:t>
                      </a:r>
                    </a:p>
                  </a:txBody>
                  <a:tcPr marL="54864" marR="54864" marT="22860" marB="22860" anchor="ctr">
                    <a:solidFill>
                      <a:srgbClr val="F2F4F7"/>
                    </a:solidFill>
                  </a:tcPr>
                </a:tc>
                <a:tc>
                  <a:txBody>
                    <a:bodyPr wrap="square"/>
                    <a:lstStyle/>
                    <a:p>
                      <a:r>
                        <a:rPr sz="950" b="0" i="0">
                          <a:solidFill>
                            <a:srgbClr val="101828"/>
                          </a:solidFill>
                          <a:latin typeface="Arial"/>
                        </a:rPr>
                        <a:t>Fake approvals, authority claims, prompt injection</a:t>
                      </a:r>
                    </a:p>
                  </a:txBody>
                  <a:tcPr marL="54864" marR="54864" marT="22860" marB="22860" anchor="ctr">
                    <a:solidFill>
                      <a:srgbClr val="F2F4F7"/>
                    </a:solidFill>
                  </a:tcPr>
                </a:tc>
              </a:tr>
              <a:tr h="347472">
                <a:tc>
                  <a:txBody>
                    <a:bodyPr wrap="square"/>
                    <a:lstStyle/>
                    <a:p>
                      <a:r>
                        <a:rPr sz="950" b="1" i="0">
                          <a:solidFill>
                            <a:srgbClr val="101828"/>
                          </a:solidFill>
                          <a:latin typeface="Arial"/>
                        </a:rPr>
                        <a:t>Second domain (software)</a:t>
                      </a:r>
                    </a:p>
                  </a:txBody>
                  <a:tcPr marL="54864" marR="54864" marT="22860" marB="22860" anchor="ctr">
                    <a:solidFill>
                      <a:srgbClr val="FFFFFF"/>
                    </a:solidFill>
                  </a:tcPr>
                </a:tc>
                <a:tc>
                  <a:txBody>
                    <a:bodyPr wrap="square"/>
                    <a:lstStyle/>
                    <a:p>
                      <a:r>
                        <a:rPr sz="950" b="0" i="0">
                          <a:solidFill>
                            <a:srgbClr val="101828"/>
                          </a:solidFill>
                          <a:latin typeface="Arial"/>
                        </a:rPr>
                        <a:t>8 of 8 (rules-only: 6 of 8), 0 false blocks</a:t>
                      </a:r>
                    </a:p>
                  </a:txBody>
                  <a:tcPr marL="54864" marR="54864" marT="22860" marB="22860" anchor="ctr">
                    <a:solidFill>
                      <a:srgbClr val="FFFFFF"/>
                    </a:solidFill>
                  </a:tcPr>
                </a:tc>
                <a:tc>
                  <a:txBody>
                    <a:bodyPr wrap="square"/>
                    <a:lstStyle/>
                    <a:p>
                      <a:r>
                        <a:rPr sz="950" b="0" i="0">
                          <a:solidFill>
                            <a:srgbClr val="101828"/>
                          </a:solidFill>
                          <a:latin typeface="Arial"/>
                        </a:rPr>
                        <a:t>12 scenarios x 3 repeats</a:t>
                      </a:r>
                    </a:p>
                  </a:txBody>
                  <a:tcPr marL="54864" marR="54864" marT="22860" marB="22860" anchor="ctr">
                    <a:solidFill>
                      <a:srgbClr val="FFFFFF"/>
                    </a:solidFill>
                  </a:tcPr>
                </a:tc>
              </a:tr>
              <a:tr h="347472">
                <a:tc>
                  <a:txBody>
                    <a:bodyPr wrap="square"/>
                    <a:lstStyle/>
                    <a:p>
                      <a:r>
                        <a:rPr sz="950" b="1" i="0">
                          <a:solidFill>
                            <a:srgbClr val="101828"/>
                          </a:solidFill>
                          <a:latin typeface="Arial"/>
                        </a:rPr>
                        <a:t>Decision latency</a:t>
                      </a:r>
                    </a:p>
                  </a:txBody>
                  <a:tcPr marL="54864" marR="54864" marT="22860" marB="22860" anchor="ctr">
                    <a:solidFill>
                      <a:srgbClr val="F2F4F7"/>
                    </a:solidFill>
                  </a:tcPr>
                </a:tc>
                <a:tc>
                  <a:txBody>
                    <a:bodyPr wrap="square"/>
                    <a:lstStyle/>
                    <a:p>
                      <a:r>
                        <a:rPr sz="950" b="0" i="0">
                          <a:solidFill>
                            <a:srgbClr val="101828"/>
                          </a:solidFill>
                          <a:latin typeface="Arial"/>
                        </a:rPr>
                        <a:t>Median about 3 s per audit (live traces: 2.8 to 3.4 s)</a:t>
                      </a:r>
                    </a:p>
                  </a:txBody>
                  <a:tcPr marL="54864" marR="54864" marT="22860" marB="22860" anchor="ctr">
                    <a:solidFill>
                      <a:srgbClr val="F2F4F7"/>
                    </a:solidFill>
                  </a:tcPr>
                </a:tc>
                <a:tc>
                  <a:txBody>
                    <a:bodyPr wrap="square"/>
                    <a:lstStyle/>
                    <a:p>
                      <a:r>
                        <a:rPr sz="950" b="0" i="0">
                          <a:solidFill>
                            <a:srgbClr val="101828"/>
                          </a:solidFill>
                          <a:latin typeface="Arial"/>
                        </a:rPr>
                        <a:t>Per-call telemetry, shown on the AI traces page</a:t>
                      </a:r>
                    </a:p>
                  </a:txBody>
                  <a:tcPr marL="54864" marR="54864" marT="22860" marB="22860" anchor="ctr">
                    <a:solidFill>
                      <a:srgbClr val="F2F4F7"/>
                    </a:solidFill>
                  </a:tcPr>
                </a:tc>
              </a:tr>
              <a:tr h="347472">
                <a:tc>
                  <a:txBody>
                    <a:bodyPr wrap="square"/>
                    <a:lstStyle/>
                    <a:p>
                      <a:r>
                        <a:rPr sz="950" b="1" i="0">
                          <a:solidFill>
                            <a:srgbClr val="101828"/>
                          </a:solidFill>
                          <a:latin typeface="Arial"/>
                        </a:rPr>
                        <a:t>Cost per audit</a:t>
                      </a:r>
                    </a:p>
                  </a:txBody>
                  <a:tcPr marL="54864" marR="54864" marT="22860" marB="22860" anchor="ctr">
                    <a:solidFill>
                      <a:srgbClr val="FFFFFF"/>
                    </a:solidFill>
                  </a:tcPr>
                </a:tc>
                <a:tc>
                  <a:txBody>
                    <a:bodyPr wrap="square"/>
                    <a:lstStyle/>
                    <a:p>
                      <a:r>
                        <a:rPr sz="950" b="0" i="0">
                          <a:solidFill>
                            <a:srgbClr val="101828"/>
                          </a:solidFill>
                          <a:latin typeface="Arial"/>
                        </a:rPr>
                        <a:t>About $0.002 (estimate)</a:t>
                      </a:r>
                    </a:p>
                  </a:txBody>
                  <a:tcPr marL="54864" marR="54864" marT="22860" marB="22860" anchor="ctr">
                    <a:solidFill>
                      <a:srgbClr val="FFFFFF"/>
                    </a:solidFill>
                  </a:tcPr>
                </a:tc>
                <a:tc>
                  <a:txBody>
                    <a:bodyPr wrap="square"/>
                    <a:lstStyle/>
                    <a:p>
                      <a:r>
                        <a:rPr sz="950" b="0" i="0">
                          <a:solidFill>
                            <a:srgbClr val="101828"/>
                          </a:solidFill>
                          <a:latin typeface="Arial"/>
                        </a:rPr>
                        <a:t>Tokens x Vertex AI list price</a:t>
                      </a:r>
                    </a:p>
                  </a:txBody>
                  <a:tcPr marL="54864" marR="54864" marT="22860" marB="22860" anchor="ctr">
                    <a:solidFill>
                      <a:srgbClr val="FFFFFF"/>
                    </a:solidFill>
                  </a:tcPr>
                </a:tc>
              </a:tr>
              <a:tr h="347472">
                <a:tc>
                  <a:txBody>
                    <a:bodyPr wrap="square"/>
                    <a:lstStyle/>
                    <a:p>
                      <a:r>
                        <a:rPr sz="950" b="1" i="0">
                          <a:solidFill>
                            <a:srgbClr val="101828"/>
                          </a:solidFill>
                          <a:latin typeface="Arial"/>
                        </a:rPr>
                        <a:t>Load</a:t>
                      </a:r>
                    </a:p>
                  </a:txBody>
                  <a:tcPr marL="54864" marR="54864" marT="22860" marB="22860" anchor="ctr">
                    <a:solidFill>
                      <a:srgbClr val="F2F4F7"/>
                    </a:solidFill>
                  </a:tcPr>
                </a:tc>
                <a:tc>
                  <a:txBody>
                    <a:bodyPr wrap="square"/>
                    <a:lstStyle/>
                    <a:p>
                      <a:r>
                        <a:rPr sz="950" b="0" i="0">
                          <a:solidFill>
                            <a:srgbClr val="101828"/>
                          </a:solidFill>
                          <a:latin typeface="Arial"/>
                        </a:rPr>
                        <a:t>8 concurrent runs in about 34 s; audit chain intact</a:t>
                      </a:r>
                    </a:p>
                  </a:txBody>
                  <a:tcPr marL="54864" marR="54864" marT="22860" marB="22860" anchor="ctr">
                    <a:solidFill>
                      <a:srgbClr val="F2F4F7"/>
                    </a:solidFill>
                  </a:tcPr>
                </a:tc>
                <a:tc>
                  <a:txBody>
                    <a:bodyPr wrap="square"/>
                    <a:lstStyle/>
                    <a:p>
                      <a:r>
                        <a:rPr sz="950" b="0" i="0">
                          <a:solidFill>
                            <a:srgbClr val="101828"/>
                          </a:solidFill>
                          <a:latin typeface="Arial"/>
                        </a:rPr>
                        <a:t>Live test on Cloud Run</a:t>
                      </a:r>
                    </a:p>
                  </a:txBody>
                  <a:tcPr marL="54864" marR="54864" marT="22860" marB="22860" anchor="ctr">
                    <a:solidFill>
                      <a:srgbClr val="F2F4F7"/>
                    </a:solidFill>
                  </a:tcPr>
                </a:tc>
              </a:tr>
            </a:tbl>
          </a:graphicData>
        </a:graphic>
      </p:graphicFrame>
      <p:sp>
        <p:nvSpPr>
          <p:cNvPr id="145" name="TextBox 144"/>
          <p:cNvSpPr txBox="1"/>
          <p:nvPr/>
        </p:nvSpPr>
        <p:spPr>
          <a:xfrm>
            <a:off x="274320" y="4315968"/>
            <a:ext cx="8595360" cy="365760"/>
          </a:xfrm>
          <a:prstGeom prst="rect">
            <a:avLst/>
          </a:prstGeom>
          <a:noFill/>
        </p:spPr>
        <p:txBody>
          <a:bodyPr wrap="square" anchor="t" lIns="36576" rIns="36576" tIns="18288" bIns="18288">
            <a:spAutoFit/>
          </a:bodyPr>
          <a:lstStyle/>
          <a:p>
            <a:pPr>
              <a:spcAft>
                <a:spcPts val="200"/>
              </a:spcAft>
            </a:pPr>
            <a:r>
              <a:rPr sz="950" b="0" i="1">
                <a:solidFill>
                  <a:srgbClr val="667085"/>
                </a:solidFill>
                <a:latin typeface="Arial"/>
              </a:rPr>
              <a:t>The scenarios were written and labelled by our team: strong evidence, not an independent benchmark.</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274320" y="1143000"/>
            <a:ext cx="2788920" cy="310896"/>
          </a:xfrm>
          <a:prstGeom prst="roundRect">
            <a:avLst>
              <a:gd name="adj" fmla="val 20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FFFFFF"/>
                </a:solidFill>
                <a:latin typeface="Arial"/>
              </a:rPr>
              <a:t>Built beyond the core</a:t>
            </a:r>
          </a:p>
        </p:txBody>
      </p:sp>
      <p:sp>
        <p:nvSpPr>
          <p:cNvPr id="153" name="Rounded Rectangle 152"/>
          <p:cNvSpPr/>
          <p:nvPr/>
        </p:nvSpPr>
        <p:spPr>
          <a:xfrm>
            <a:off x="274320" y="1481328"/>
            <a:ext cx="2788920" cy="3108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marL="146304" indent="-146304">
              <a:spcAft>
                <a:spcPts val="500"/>
              </a:spcAft>
              <a:buChar char="•"/>
            </a:pPr>
            <a:r>
              <a:rPr sz="1100" b="0" i="0">
                <a:solidFill>
                  <a:srgbClr val="101828"/>
                </a:solidFill>
                <a:latin typeface="Arial"/>
              </a:rPr>
              <a:t>Official A2A client and AP2 SDK in the product</a:t>
            </a:r>
          </a:p>
          <a:p>
            <a:pPr algn="l" marL="146304" indent="-146304">
              <a:spcAft>
                <a:spcPts val="500"/>
              </a:spcAft>
              <a:buChar char="•"/>
            </a:pPr>
            <a:r>
              <a:rPr sz="1100" b="0" i="0">
                <a:solidFill>
                  <a:srgbClr val="101828"/>
                </a:solidFill>
                <a:latin typeface="Arial"/>
              </a:rPr>
              <a:t>Three role workspaces with separation of duties</a:t>
            </a:r>
          </a:p>
          <a:p>
            <a:pPr algn="l" marL="146304" indent="-146304">
              <a:spcAft>
                <a:spcPts val="500"/>
              </a:spcAft>
              <a:buChar char="•"/>
            </a:pPr>
            <a:r>
              <a:rPr sz="1100" b="0" i="0">
                <a:solidFill>
                  <a:srgbClr val="101828"/>
                </a:solidFill>
                <a:latin typeface="Arial"/>
              </a:rPr>
              <a:t>Editable, signed, versioned policy</a:t>
            </a:r>
          </a:p>
          <a:p>
            <a:pPr algn="l" marL="146304" indent="-146304">
              <a:spcAft>
                <a:spcPts val="500"/>
              </a:spcAft>
              <a:buChar char="•"/>
            </a:pPr>
            <a:r>
              <a:rPr sz="1100" b="0" i="0">
                <a:solidFill>
                  <a:srgbClr val="101828"/>
                </a:solidFill>
                <a:latin typeface="Arial"/>
              </a:rPr>
              <a:t>AI traces page and itinerary printout</a:t>
            </a:r>
          </a:p>
          <a:p>
            <a:pPr algn="l" marL="146304" indent="-146304">
              <a:spcAft>
                <a:spcPts val="500"/>
              </a:spcAft>
              <a:buChar char="•"/>
            </a:pPr>
            <a:r>
              <a:rPr sz="1100" b="0" i="0">
                <a:solidFill>
                  <a:srgbClr val="101828"/>
                </a:solidFill>
                <a:latin typeface="Arial"/>
              </a:rPr>
              <a:t>Unprotected-vs-protected contrast; guided demo</a:t>
            </a:r>
          </a:p>
          <a:p>
            <a:pPr algn="l" marL="146304" indent="-146304">
              <a:spcAft>
                <a:spcPts val="500"/>
              </a:spcAft>
              <a:buChar char="•"/>
            </a:pPr>
            <a:r>
              <a:rPr sz="1100" b="0" i="0">
                <a:solidFill>
                  <a:srgbClr val="101828"/>
                </a:solidFill>
                <a:latin typeface="Arial"/>
              </a:rPr>
              <a:t>Second domain proven (software purchases)</a:t>
            </a:r>
          </a:p>
          <a:p>
            <a:pPr algn="l" marL="146304" indent="-146304">
              <a:spcAft>
                <a:spcPts val="500"/>
              </a:spcAft>
              <a:buChar char="•"/>
            </a:pPr>
            <a:r>
              <a:rPr sz="1100" b="0" i="0">
                <a:solidFill>
                  <a:srgbClr val="101828"/>
                </a:solidFill>
                <a:latin typeface="Arial"/>
              </a:rPr>
              <a:t>POST /v1/authorize for any agent</a:t>
            </a:r>
          </a:p>
        </p:txBody>
      </p:sp>
      <p:sp>
        <p:nvSpPr>
          <p:cNvPr id="154" name="Rounded Rectangle 153"/>
          <p:cNvSpPr/>
          <p:nvPr/>
        </p:nvSpPr>
        <p:spPr>
          <a:xfrm>
            <a:off x="3172968" y="1143000"/>
            <a:ext cx="2788920" cy="310896"/>
          </a:xfrm>
          <a:prstGeom prst="roundRect">
            <a:avLst>
              <a:gd name="adj" fmla="val 20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FFFFFF"/>
                </a:solidFill>
                <a:latin typeface="Arial"/>
              </a:rPr>
              <a:t>Next steps</a:t>
            </a:r>
          </a:p>
        </p:txBody>
      </p:sp>
      <p:sp>
        <p:nvSpPr>
          <p:cNvPr id="155" name="Rounded Rectangle 154"/>
          <p:cNvSpPr/>
          <p:nvPr/>
        </p:nvSpPr>
        <p:spPr>
          <a:xfrm>
            <a:off x="3172968" y="1481328"/>
            <a:ext cx="2788920" cy="3108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marL="146304" indent="-146304">
              <a:spcAft>
                <a:spcPts val="500"/>
              </a:spcAft>
              <a:buChar char="•"/>
            </a:pPr>
            <a:r>
              <a:rPr sz="1100" b="0" i="0">
                <a:solidFill>
                  <a:srgbClr val="101828"/>
                </a:solidFill>
                <a:latin typeface="Arial"/>
              </a:rPr>
              <a:t>Company single sign-on; server-enforced roles</a:t>
            </a:r>
          </a:p>
          <a:p>
            <a:pPr algn="l" marL="146304" indent="-146304">
              <a:spcAft>
                <a:spcPts val="500"/>
              </a:spcAft>
              <a:buChar char="•"/>
            </a:pPr>
            <a:r>
              <a:rPr sz="1100" b="0" i="0">
                <a:solidFill>
                  <a:srgbClr val="101828"/>
                </a:solidFill>
                <a:latin typeface="Arial"/>
              </a:rPr>
              <a:t>Real supplier and payment integrations</a:t>
            </a:r>
          </a:p>
          <a:p>
            <a:pPr algn="l" marL="146304" indent="-146304">
              <a:spcAft>
                <a:spcPts val="500"/>
              </a:spcAft>
              <a:buChar char="•"/>
            </a:pPr>
            <a:r>
              <a:rPr sz="1100" b="0" i="0">
                <a:solidFill>
                  <a:srgbClr val="101828"/>
                </a:solidFill>
                <a:latin typeface="Arial"/>
              </a:rPr>
              <a:t>Approved destinations per grade; line-manager chain</a:t>
            </a:r>
          </a:p>
          <a:p>
            <a:pPr algn="l" marL="146304" indent="-146304">
              <a:spcAft>
                <a:spcPts val="500"/>
              </a:spcAft>
              <a:buChar char="•"/>
            </a:pPr>
            <a:r>
              <a:rPr sz="1100" b="0" i="0">
                <a:solidFill>
                  <a:srgbClr val="101828"/>
                </a:solidFill>
                <a:latin typeface="Arial"/>
              </a:rPr>
              <a:t>Anvil as an SDK or MCP tool for ADK and LangChain agents</a:t>
            </a:r>
          </a:p>
          <a:p>
            <a:pPr algn="l" marL="146304" indent="-146304">
              <a:spcAft>
                <a:spcPts val="500"/>
              </a:spcAft>
              <a:buChar char="•"/>
            </a:pPr>
            <a:r>
              <a:rPr sz="1100" b="0" i="0">
                <a:solidFill>
                  <a:srgbClr val="101828"/>
                </a:solidFill>
                <a:latin typeface="Arial"/>
              </a:rPr>
              <a:t>Approvals and alerts by email or chat</a:t>
            </a:r>
          </a:p>
          <a:p>
            <a:pPr algn="l" marL="146304" indent="-146304">
              <a:spcAft>
                <a:spcPts val="500"/>
              </a:spcAft>
              <a:buChar char="•"/>
            </a:pPr>
            <a:r>
              <a:rPr sz="1100" b="0" i="0">
                <a:solidFill>
                  <a:srgbClr val="101828"/>
                </a:solidFill>
                <a:latin typeface="Arial"/>
              </a:rPr>
              <a:t>Cancel or change an approved trip; expense claims</a:t>
            </a:r>
          </a:p>
          <a:p>
            <a:pPr algn="l" marL="146304" indent="-146304">
              <a:spcAft>
                <a:spcPts val="500"/>
              </a:spcAft>
              <a:buChar char="•"/>
            </a:pPr>
            <a:r>
              <a:rPr sz="1100" b="0" i="0">
                <a:solidFill>
                  <a:srgbClr val="101828"/>
                </a:solidFill>
                <a:latin typeface="Arial"/>
              </a:rPr>
              <a:t>KMS-backed signing; per-tenant chains</a:t>
            </a:r>
          </a:p>
        </p:txBody>
      </p:sp>
      <p:sp>
        <p:nvSpPr>
          <p:cNvPr id="156" name="Rounded Rectangle 155"/>
          <p:cNvSpPr/>
          <p:nvPr/>
        </p:nvSpPr>
        <p:spPr>
          <a:xfrm>
            <a:off x="6071616" y="1143000"/>
            <a:ext cx="2788920" cy="310896"/>
          </a:xfrm>
          <a:prstGeom prst="roundRect">
            <a:avLst>
              <a:gd name="adj" fmla="val 20000"/>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FFFFFF"/>
                </a:solidFill>
                <a:latin typeface="Arial"/>
              </a:rPr>
              <a:t>Limits we state openly</a:t>
            </a:r>
          </a:p>
        </p:txBody>
      </p:sp>
      <p:sp>
        <p:nvSpPr>
          <p:cNvPr id="157" name="Rounded Rectangle 156"/>
          <p:cNvSpPr/>
          <p:nvPr/>
        </p:nvSpPr>
        <p:spPr>
          <a:xfrm>
            <a:off x="6071616" y="1481328"/>
            <a:ext cx="2788920" cy="3108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marL="146304" indent="-146304">
              <a:spcAft>
                <a:spcPts val="500"/>
              </a:spcAft>
              <a:buChar char="•"/>
            </a:pPr>
            <a:r>
              <a:rPr sz="1100" b="0" i="0">
                <a:solidFill>
                  <a:srgbClr val="101828"/>
                </a:solidFill>
                <a:latin typeface="Arial"/>
              </a:rPr>
              <a:t>The executor is simulated in the prototype</a:t>
            </a:r>
          </a:p>
          <a:p>
            <a:pPr algn="l" marL="146304" indent="-146304">
              <a:spcAft>
                <a:spcPts val="500"/>
              </a:spcAft>
              <a:buChar char="•"/>
            </a:pPr>
            <a:r>
              <a:rPr sz="1100" b="0" i="0">
                <a:solidFill>
                  <a:srgbClr val="101828"/>
                </a:solidFill>
                <a:latin typeface="Arial"/>
              </a:rPr>
              <a:t>The demo sign-in is UI-only; the API is open</a:t>
            </a:r>
          </a:p>
          <a:p>
            <a:pPr algn="l" marL="146304" indent="-146304">
              <a:spcAft>
                <a:spcPts val="500"/>
              </a:spcAft>
              <a:buChar char="•"/>
            </a:pPr>
            <a:r>
              <a:rPr sz="1100" b="0" i="0">
                <a:solidFill>
                  <a:srgbClr val="101828"/>
                </a:solidFill>
                <a:latin typeface="Arial"/>
              </a:rPr>
              <a:t>AP2 payment data are demo values</a:t>
            </a:r>
          </a:p>
          <a:p>
            <a:pPr algn="l" marL="146304" indent="-146304">
              <a:spcAft>
                <a:spcPts val="500"/>
              </a:spcAft>
              <a:buChar char="•"/>
            </a:pPr>
            <a:r>
              <a:rPr sz="1100" b="0" i="0">
                <a:solidFill>
                  <a:srgbClr val="101828"/>
                </a:solidFill>
                <a:latin typeface="Arial"/>
              </a:rPr>
              <a:t>The log is tamper-evident, not tamper-proof</a:t>
            </a:r>
          </a:p>
          <a:p>
            <a:pPr algn="l" marL="146304" indent="-146304">
              <a:spcAft>
                <a:spcPts val="500"/>
              </a:spcAft>
              <a:buChar char="•"/>
            </a:pPr>
            <a:r>
              <a:rPr sz="1100" b="0" i="0">
                <a:solidFill>
                  <a:srgbClr val="101828"/>
                </a:solidFill>
                <a:latin typeface="Arial"/>
              </a:rPr>
              <a:t>Scenarios are team-written</a:t>
            </a:r>
          </a:p>
          <a:p>
            <a:pPr algn="l" marL="146304" indent="-146304">
              <a:spcAft>
                <a:spcPts val="500"/>
              </a:spcAft>
              <a:buChar char="•"/>
            </a:pPr>
            <a:r>
              <a:rPr sz="1100" b="0" i="0">
                <a:solidFill>
                  <a:srgbClr val="101828"/>
                </a:solidFill>
                <a:latin typeface="Arial"/>
              </a:rPr>
              <a:t>Flight and hotel data are mock supplier data</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sz="1300">
                <a:latin typeface="Google Sans Flex Medium"/>
                <a:ea typeface="Google Sans Flex Medium"/>
                <a:cs typeface="Google Sans Flex Medium"/>
                <a:sym typeface="Google Sans Flex Medium"/>
              </a:rPr>
              <a:t>GitHub Public Repository</a:t>
            </a:r>
            <a:r>
              <a:rPr sz="1300" b="1">
                <a:solidFill>
                  <a:srgbClr val="3451D1"/>
                </a:solidFill>
                <a:latin typeface="Arial"/>
              </a:rPr>
              <a:t>:  https://github.com/Adhi1402/anvil</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sz="1300">
                <a:latin typeface="Google Sans Flex Medium"/>
                <a:ea typeface="Google Sans Flex Medium"/>
                <a:cs typeface="Google Sans Flex Medium"/>
                <a:sym typeface="Google Sans Flex Medium"/>
              </a:rPr>
              <a:t>Demo Video Link (3 Minutes)</a:t>
            </a:r>
            <a:r>
              <a:rPr sz="1300" b="1">
                <a:solidFill>
                  <a:srgbClr val="B42318"/>
                </a:solidFill>
                <a:latin typeface="Arial"/>
              </a:rPr>
              <a:t>:  PASTE YOUR VIDEO LINK HERE after uploading</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sz="1300">
                <a:latin typeface="Google Sans Flex Medium"/>
                <a:ea typeface="Google Sans Flex Medium"/>
                <a:cs typeface="Google Sans Flex Medium"/>
                <a:sym typeface="Google Sans Flex Medium"/>
              </a:rPr>
              <a:t>Final Product Link</a:t>
            </a:r>
            <a:r>
              <a:rPr sz="1300" b="1">
                <a:solidFill>
                  <a:srgbClr val="3451D1"/>
                </a:solidFill>
                <a:latin typeface="Arial"/>
              </a:rPr>
              <a:t>:  https://dazzling-lodge-511607-m0.web.app</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160" name="TextBox 159"/>
          <p:cNvSpPr txBox="1"/>
          <p:nvPr/>
        </p:nvSpPr>
        <p:spPr>
          <a:xfrm>
            <a:off x="274320" y="2606040"/>
            <a:ext cx="8595360" cy="2011680"/>
          </a:xfrm>
          <a:prstGeom prst="rect">
            <a:avLst/>
          </a:prstGeom>
          <a:noFill/>
        </p:spPr>
        <p:txBody>
          <a:bodyPr wrap="square" anchor="t" lIns="36576" rIns="36576" tIns="18288" bIns="18288">
            <a:spAutoFit/>
          </a:bodyPr>
          <a:lstStyle/>
          <a:p>
            <a:pPr>
              <a:spcAft>
                <a:spcPts val="400"/>
              </a:spcAft>
            </a:pPr>
            <a:r>
              <a:rPr sz="1200" b="1" i="0">
                <a:solidFill>
                  <a:srgbClr val="3451D1"/>
                </a:solidFill>
                <a:latin typeface="Arial"/>
              </a:rPr>
              <a:t>How to try it (about two minutes)</a:t>
            </a:r>
          </a:p>
          <a:p>
            <a:pPr marL="146304" indent="-146304">
              <a:spcAft>
                <a:spcPts val="400"/>
              </a:spcAft>
              <a:buChar char="•"/>
            </a:pPr>
            <a:r>
              <a:rPr sz="1050" b="0" i="0">
                <a:solidFill>
                  <a:srgbClr val="101828"/>
                </a:solidFill>
                <a:latin typeface="Arial"/>
              </a:rPr>
              <a:t>Open the product link and choose a person: Rahul (employee), Adhish Sekar (finance manager) or Swathy S (platform operator), or continue as a guest judge and switch roles with 'View as'.</a:t>
            </a:r>
          </a:p>
          <a:p>
            <a:pPr marL="146304" indent="-146304">
              <a:spcAft>
                <a:spcPts val="400"/>
              </a:spcAft>
              <a:buChar char="•"/>
            </a:pPr>
            <a:r>
              <a:rPr sz="1050" b="0" i="0">
                <a:solidFill>
                  <a:srgbClr val="101828"/>
                </a:solidFill>
                <a:latin typeface="Arial"/>
              </a:rPr>
              <a:t>As Rahul: Plan a trip (leave in under 7 days to see an approval request). As Adhish: approve the whole trip, or edit the policy. As Swathy: open AI traces to see the exact Gemini input and output.</a:t>
            </a:r>
          </a:p>
          <a:p>
            <a:pPr marL="146304" indent="-146304">
              <a:spcAft>
                <a:spcPts val="400"/>
              </a:spcAft>
              <a:buChar char="•"/>
            </a:pPr>
            <a:r>
              <a:rPr sz="1050" b="0" i="0">
                <a:solidFill>
                  <a:srgbClr val="667085"/>
                </a:solidFill>
                <a:latin typeface="Arial"/>
              </a:rPr>
              <a:t>The first request after a quiet period can take 10 to 20 seconds.</a:t>
            </a:r>
          </a:p>
          <a:p>
            <a:pPr marL="146304" indent="-146304">
              <a:spcAft>
                <a:spcPts val="400"/>
              </a:spcAft>
              <a:buChar char="•"/>
            </a:pPr>
            <a:r>
              <a:rPr sz="1050" b="0" i="0">
                <a:solidFill>
                  <a:srgbClr val="667085"/>
                </a:solidFill>
                <a:latin typeface="Arial"/>
              </a:rPr>
              <a:t>Built on Firebase Hosting, Firestore, Cloud Run and Gemini (Vertex AI). Sign-in is a labelled demo; the spending executor is simulated.</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TextBox 166"/>
          <p:cNvSpPr txBox="1"/>
          <p:nvPr/>
        </p:nvSpPr>
        <p:spPr>
          <a:xfrm>
            <a:off x="274320" y="658368"/>
            <a:ext cx="8595360" cy="457200"/>
          </a:xfrm>
          <a:prstGeom prst="rect">
            <a:avLst/>
          </a:prstGeom>
          <a:noFill/>
        </p:spPr>
        <p:txBody>
          <a:bodyPr wrap="square" anchor="t" lIns="36576" rIns="36576" tIns="18288" bIns="18288">
            <a:spAutoFit/>
          </a:bodyPr>
          <a:lstStyle/>
          <a:p>
            <a:pPr>
              <a:spcAft>
                <a:spcPts val="200"/>
              </a:spcAft>
            </a:pPr>
            <a:r>
              <a:rPr sz="2000" b="0" i="0">
                <a:solidFill>
                  <a:srgbClr val="101828"/>
                </a:solidFill>
                <a:latin typeface="Arial"/>
              </a:rPr>
              <a:t>One engine, any domain</a:t>
            </a:r>
          </a:p>
        </p:txBody>
      </p:sp>
      <p:sp>
        <p:nvSpPr>
          <p:cNvPr id="168" name="Rounded Rectangle 167"/>
          <p:cNvSpPr/>
          <p:nvPr/>
        </p:nvSpPr>
        <p:spPr>
          <a:xfrm>
            <a:off x="274320" y="1143000"/>
            <a:ext cx="196596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3451D1"/>
                </a:solidFill>
                <a:latin typeface="Arial"/>
              </a:rPr>
              <a:t>Signed mandate</a:t>
            </a:r>
          </a:p>
          <a:p>
            <a:pPr algn="ctr">
              <a:spcAft>
                <a:spcPts val="100"/>
              </a:spcAft>
            </a:pPr>
            <a:r>
              <a:rPr sz="900" b="0" i="0">
                <a:solidFill>
                  <a:srgbClr val="101828"/>
                </a:solidFill>
                <a:latin typeface="Arial"/>
              </a:rPr>
              <a:t>what a person approved</a:t>
            </a:r>
          </a:p>
        </p:txBody>
      </p:sp>
      <p:cxnSp>
        <p:nvCxnSpPr>
          <p:cNvPr id="169" name="Connector 168"/>
          <p:cNvCxnSpPr/>
          <p:nvPr/>
        </p:nvCxnSpPr>
        <p:spPr>
          <a:xfrm>
            <a:off x="2240279" y="1499616"/>
            <a:ext cx="246889"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0" name="Rounded Rectangle 169"/>
          <p:cNvSpPr/>
          <p:nvPr/>
        </p:nvSpPr>
        <p:spPr>
          <a:xfrm>
            <a:off x="2487168" y="1143000"/>
            <a:ext cx="196596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3451D1"/>
                </a:solidFill>
                <a:latin typeface="Arial"/>
              </a:rPr>
              <a:t>Intent audit</a:t>
            </a:r>
          </a:p>
          <a:p>
            <a:pPr algn="ctr">
              <a:spcAft>
                <a:spcPts val="100"/>
              </a:spcAft>
            </a:pPr>
            <a:r>
              <a:rPr sz="900" b="0" i="0">
                <a:solidFill>
                  <a:srgbClr val="101828"/>
                </a:solidFill>
                <a:latin typeface="Arial"/>
              </a:rPr>
              <a:t>Gemini judges the meaning</a:t>
            </a:r>
          </a:p>
        </p:txBody>
      </p:sp>
      <p:cxnSp>
        <p:nvCxnSpPr>
          <p:cNvPr id="171" name="Connector 170"/>
          <p:cNvCxnSpPr/>
          <p:nvPr/>
        </p:nvCxnSpPr>
        <p:spPr>
          <a:xfrm>
            <a:off x="4453127" y="1499616"/>
            <a:ext cx="246889"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2" name="Rounded Rectangle 171"/>
          <p:cNvSpPr/>
          <p:nvPr/>
        </p:nvSpPr>
        <p:spPr>
          <a:xfrm>
            <a:off x="4700016" y="1143000"/>
            <a:ext cx="196596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3451D1"/>
                </a:solidFill>
                <a:latin typeface="Arial"/>
              </a:rPr>
              <a:t>Enforce in code</a:t>
            </a:r>
          </a:p>
          <a:p>
            <a:pPr algn="ctr">
              <a:spcAft>
                <a:spcPts val="100"/>
              </a:spcAft>
            </a:pPr>
            <a:r>
              <a:rPr sz="900" b="0" i="0">
                <a:solidFill>
                  <a:srgbClr val="101828"/>
                </a:solidFill>
                <a:latin typeface="Arial"/>
              </a:rPr>
              <a:t>rules + AP2: approve, escalate, block</a:t>
            </a:r>
          </a:p>
        </p:txBody>
      </p:sp>
      <p:cxnSp>
        <p:nvCxnSpPr>
          <p:cNvPr id="173" name="Connector 172"/>
          <p:cNvCxnSpPr/>
          <p:nvPr/>
        </p:nvCxnSpPr>
        <p:spPr>
          <a:xfrm>
            <a:off x="6665975" y="1499616"/>
            <a:ext cx="246889" cy="0"/>
          </a:xfrm>
          <a:prstGeom prst="line">
            <a:avLst/>
          </a:prstGeom>
          <a:ln w="20320">
            <a:solidFill>
              <a:srgbClr val="3451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 name="Rounded Rectangle 173"/>
          <p:cNvSpPr/>
          <p:nvPr/>
        </p:nvSpPr>
        <p:spPr>
          <a:xfrm>
            <a:off x="6912864" y="1143000"/>
            <a:ext cx="1965960" cy="713232"/>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150" b="1" i="0">
                <a:solidFill>
                  <a:srgbClr val="3451D1"/>
                </a:solidFill>
                <a:latin typeface="Arial"/>
              </a:rPr>
              <a:t>Prove</a:t>
            </a:r>
          </a:p>
          <a:p>
            <a:pPr algn="ctr">
              <a:spcAft>
                <a:spcPts val="100"/>
              </a:spcAft>
            </a:pPr>
            <a:r>
              <a:rPr sz="900" b="0" i="0">
                <a:solidFill>
                  <a:srgbClr val="101828"/>
                </a:solidFill>
                <a:latin typeface="Arial"/>
              </a:rPr>
              <a:t>receipts, hash chain, AI traces</a:t>
            </a:r>
          </a:p>
        </p:txBody>
      </p:sp>
      <p:sp>
        <p:nvSpPr>
          <p:cNvPr id="175" name="TextBox 174"/>
          <p:cNvSpPr txBox="1"/>
          <p:nvPr/>
        </p:nvSpPr>
        <p:spPr>
          <a:xfrm>
            <a:off x="274320" y="1938528"/>
            <a:ext cx="8595360" cy="228600"/>
          </a:xfrm>
          <a:prstGeom prst="rect">
            <a:avLst/>
          </a:prstGeom>
          <a:noFill/>
        </p:spPr>
        <p:txBody>
          <a:bodyPr wrap="square" anchor="t" lIns="36576" rIns="36576" tIns="18288" bIns="18288">
            <a:spAutoFit/>
          </a:bodyPr>
          <a:lstStyle/>
          <a:p>
            <a:pPr>
              <a:spcAft>
                <a:spcPts val="200"/>
              </a:spcAft>
            </a:pPr>
            <a:r>
              <a:rPr sz="1050" b="1" i="0">
                <a:solidFill>
                  <a:srgbClr val="101828"/>
                </a:solidFill>
                <a:latin typeface="Arial"/>
              </a:rPr>
              <a:t>Domains plug into the same engine</a:t>
            </a:r>
          </a:p>
        </p:txBody>
      </p:sp>
      <p:sp>
        <p:nvSpPr>
          <p:cNvPr id="176" name="Rounded Rectangle 175"/>
          <p:cNvSpPr/>
          <p:nvPr/>
        </p:nvSpPr>
        <p:spPr>
          <a:xfrm>
            <a:off x="274320" y="2194560"/>
            <a:ext cx="1627632" cy="822960"/>
          </a:xfrm>
          <a:prstGeom prst="roundRect">
            <a:avLst>
              <a:gd name="adj" fmla="val 12000"/>
            </a:avLst>
          </a:prstGeom>
          <a:solidFill>
            <a:srgbClr val="ECFDF3"/>
          </a:solidFill>
          <a:ln w="12700">
            <a:solidFill>
              <a:srgbClr val="0676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950" b="1" i="0">
                <a:solidFill>
                  <a:srgbClr val="067647"/>
                </a:solidFill>
                <a:latin typeface="Arial"/>
              </a:rPr>
              <a:t>Enterprise travel and expense</a:t>
            </a:r>
          </a:p>
          <a:p>
            <a:pPr algn="ctr">
              <a:spcAft>
                <a:spcPts val="100"/>
              </a:spcAft>
            </a:pPr>
            <a:r>
              <a:rPr sz="850" b="0" i="0">
                <a:solidFill>
                  <a:srgbClr val="101828"/>
                </a:solidFill>
                <a:latin typeface="Arial"/>
              </a:rPr>
              <a:t>LIVE: this prototype</a:t>
            </a:r>
          </a:p>
        </p:txBody>
      </p:sp>
      <p:sp>
        <p:nvSpPr>
          <p:cNvPr id="177" name="Rounded Rectangle 176"/>
          <p:cNvSpPr/>
          <p:nvPr/>
        </p:nvSpPr>
        <p:spPr>
          <a:xfrm>
            <a:off x="2016252" y="2194560"/>
            <a:ext cx="1627632" cy="822960"/>
          </a:xfrm>
          <a:prstGeom prst="roundRect">
            <a:avLst>
              <a:gd name="adj" fmla="val 12000"/>
            </a:avLst>
          </a:prstGeom>
          <a:solidFill>
            <a:srgbClr val="EEF2FF"/>
          </a:solidFill>
          <a:ln w="12700">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950" b="1" i="0">
                <a:solidFill>
                  <a:srgbClr val="3451D1"/>
                </a:solidFill>
                <a:latin typeface="Arial"/>
              </a:rPr>
              <a:t>Software licences</a:t>
            </a:r>
          </a:p>
          <a:p>
            <a:pPr algn="ctr">
              <a:spcAft>
                <a:spcPts val="100"/>
              </a:spcAft>
            </a:pPr>
            <a:r>
              <a:rPr sz="850" b="0" i="0">
                <a:solidFill>
                  <a:srgbClr val="101828"/>
                </a:solidFill>
                <a:latin typeface="Arial"/>
              </a:rPr>
              <a:t>Proven: 8 of 8 caught (rules-only 6 of 8)</a:t>
            </a:r>
          </a:p>
        </p:txBody>
      </p:sp>
      <p:sp>
        <p:nvSpPr>
          <p:cNvPr id="178" name="Rounded Rectangle 177"/>
          <p:cNvSpPr/>
          <p:nvPr/>
        </p:nvSpPr>
        <p:spPr>
          <a:xfrm>
            <a:off x="3758184" y="2194560"/>
            <a:ext cx="1627632" cy="822960"/>
          </a:xfrm>
          <a:prstGeom prst="roundRect">
            <a:avLst>
              <a:gd name="adj" fmla="val 12000"/>
            </a:avLst>
          </a:prstGeom>
          <a:solidFill>
            <a:srgbClr val="F2F4F7"/>
          </a:solidFill>
          <a:ln w="12700">
            <a:solidFill>
              <a:srgbClr val="6670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950" b="1" i="0">
                <a:solidFill>
                  <a:srgbClr val="101828"/>
                </a:solidFill>
                <a:latin typeface="Arial"/>
              </a:rPr>
              <a:t>Procurement and vendor payments</a:t>
            </a:r>
          </a:p>
          <a:p>
            <a:pPr algn="ctr">
              <a:spcAft>
                <a:spcPts val="100"/>
              </a:spcAft>
            </a:pPr>
            <a:r>
              <a:rPr sz="850" b="0" i="0">
                <a:solidFill>
                  <a:srgbClr val="101828"/>
                </a:solidFill>
                <a:latin typeface="Arial"/>
              </a:rPr>
              <a:t>Next</a:t>
            </a:r>
          </a:p>
        </p:txBody>
      </p:sp>
      <p:sp>
        <p:nvSpPr>
          <p:cNvPr id="179" name="Rounded Rectangle 178"/>
          <p:cNvSpPr/>
          <p:nvPr/>
        </p:nvSpPr>
        <p:spPr>
          <a:xfrm>
            <a:off x="5500116" y="2194560"/>
            <a:ext cx="1627632" cy="822960"/>
          </a:xfrm>
          <a:prstGeom prst="roundRect">
            <a:avLst>
              <a:gd name="adj" fmla="val 12000"/>
            </a:avLst>
          </a:prstGeom>
          <a:solidFill>
            <a:srgbClr val="F2F4F7"/>
          </a:solidFill>
          <a:ln w="12700">
            <a:solidFill>
              <a:srgbClr val="6670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950" b="1" i="0">
                <a:solidFill>
                  <a:srgbClr val="101828"/>
                </a:solidFill>
                <a:latin typeface="Arial"/>
              </a:rPr>
              <a:t>Cloud spend (FinOps)</a:t>
            </a:r>
          </a:p>
          <a:p>
            <a:pPr algn="ctr">
              <a:spcAft>
                <a:spcPts val="100"/>
              </a:spcAft>
            </a:pPr>
            <a:r>
              <a:rPr sz="850" b="0" i="0">
                <a:solidFill>
                  <a:srgbClr val="101828"/>
                </a:solidFill>
                <a:latin typeface="Arial"/>
              </a:rPr>
              <a:t>Next</a:t>
            </a:r>
          </a:p>
        </p:txBody>
      </p:sp>
      <p:sp>
        <p:nvSpPr>
          <p:cNvPr id="180" name="Rounded Rectangle 179"/>
          <p:cNvSpPr/>
          <p:nvPr/>
        </p:nvSpPr>
        <p:spPr>
          <a:xfrm>
            <a:off x="7242048" y="2194560"/>
            <a:ext cx="1627632" cy="822960"/>
          </a:xfrm>
          <a:prstGeom prst="roundRect">
            <a:avLst>
              <a:gd name="adj" fmla="val 12000"/>
            </a:avLst>
          </a:prstGeom>
          <a:solidFill>
            <a:srgbClr val="F2F4F7"/>
          </a:solidFill>
          <a:ln w="12700">
            <a:solidFill>
              <a:srgbClr val="6670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950" b="1" i="0">
                <a:solidFill>
                  <a:srgbClr val="101828"/>
                </a:solidFill>
                <a:latin typeface="Arial"/>
              </a:rPr>
              <a:t>Payments and payroll</a:t>
            </a:r>
          </a:p>
          <a:p>
            <a:pPr algn="ctr">
              <a:spcAft>
                <a:spcPts val="100"/>
              </a:spcAft>
            </a:pPr>
            <a:r>
              <a:rPr sz="850" b="0" i="0">
                <a:solidFill>
                  <a:srgbClr val="101828"/>
                </a:solidFill>
                <a:latin typeface="Arial"/>
              </a:rPr>
              <a:t>Next</a:t>
            </a:r>
          </a:p>
        </p:txBody>
      </p:sp>
      <p:sp>
        <p:nvSpPr>
          <p:cNvPr id="181" name="TextBox 180"/>
          <p:cNvSpPr txBox="1"/>
          <p:nvPr/>
        </p:nvSpPr>
        <p:spPr>
          <a:xfrm>
            <a:off x="274320" y="3108960"/>
            <a:ext cx="8595360" cy="228600"/>
          </a:xfrm>
          <a:prstGeom prst="rect">
            <a:avLst/>
          </a:prstGeom>
          <a:noFill/>
        </p:spPr>
        <p:txBody>
          <a:bodyPr wrap="square" anchor="t" lIns="36576" rIns="36576" tIns="18288" bIns="18288">
            <a:spAutoFit/>
          </a:bodyPr>
          <a:lstStyle/>
          <a:p>
            <a:pPr>
              <a:spcAft>
                <a:spcPts val="200"/>
              </a:spcAft>
            </a:pPr>
            <a:r>
              <a:rPr sz="1050" b="1" i="0">
                <a:solidFill>
                  <a:srgbClr val="101828"/>
                </a:solidFill>
                <a:latin typeface="Arial"/>
              </a:rPr>
              <a:t>What a new domain needs: configuration and tests, not new infrastructure</a:t>
            </a:r>
          </a:p>
        </p:txBody>
      </p:sp>
      <p:sp>
        <p:nvSpPr>
          <p:cNvPr id="182" name="Rounded Rectangle 181"/>
          <p:cNvSpPr/>
          <p:nvPr/>
        </p:nvSpPr>
        <p:spPr>
          <a:xfrm>
            <a:off x="274320" y="3364992"/>
            <a:ext cx="2057400" cy="713232"/>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Mandate fields</a:t>
            </a:r>
          </a:p>
          <a:p>
            <a:pPr algn="ctr">
              <a:spcAft>
                <a:spcPts val="100"/>
              </a:spcAft>
            </a:pPr>
            <a:r>
              <a:rPr sz="850" b="0" i="0">
                <a:solidFill>
                  <a:srgbClr val="667085"/>
                </a:solidFill>
                <a:latin typeface="Arial"/>
              </a:rPr>
              <a:t>e.g. approved vendors, annual cap, seats</a:t>
            </a:r>
          </a:p>
        </p:txBody>
      </p:sp>
      <p:sp>
        <p:nvSpPr>
          <p:cNvPr id="183" name="Rounded Rectangle 182"/>
          <p:cNvSpPr/>
          <p:nvPr/>
        </p:nvSpPr>
        <p:spPr>
          <a:xfrm>
            <a:off x="2441448" y="3364992"/>
            <a:ext cx="2057400" cy="713232"/>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Action types</a:t>
            </a:r>
          </a:p>
          <a:p>
            <a:pPr algn="ctr">
              <a:spcAft>
                <a:spcPts val="100"/>
              </a:spcAft>
            </a:pPr>
            <a:r>
              <a:rPr sz="850" b="0" i="0">
                <a:solidFill>
                  <a:srgbClr val="667085"/>
                </a:solidFill>
                <a:latin typeface="Arial"/>
              </a:rPr>
              <a:t>e.g. buy_license, pay_invoice</a:t>
            </a:r>
          </a:p>
        </p:txBody>
      </p:sp>
      <p:sp>
        <p:nvSpPr>
          <p:cNvPr id="184" name="Rounded Rectangle 183"/>
          <p:cNvSpPr/>
          <p:nvPr/>
        </p:nvSpPr>
        <p:spPr>
          <a:xfrm>
            <a:off x="4608576" y="3364992"/>
            <a:ext cx="2057400" cy="713232"/>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A few deterministic checks</a:t>
            </a:r>
          </a:p>
          <a:p>
            <a:pPr algn="ctr">
              <a:spcAft>
                <a:spcPts val="100"/>
              </a:spcAft>
            </a:pPr>
            <a:r>
              <a:rPr sz="850" b="0" i="0">
                <a:solidFill>
                  <a:srgbClr val="667085"/>
                </a:solidFill>
                <a:latin typeface="Arial"/>
              </a:rPr>
              <a:t>limits and lists enforced in code</a:t>
            </a:r>
          </a:p>
        </p:txBody>
      </p:sp>
      <p:sp>
        <p:nvSpPr>
          <p:cNvPr id="185" name="Rounded Rectangle 184"/>
          <p:cNvSpPr/>
          <p:nvPr/>
        </p:nvSpPr>
        <p:spPr>
          <a:xfrm>
            <a:off x="6775704" y="3364992"/>
            <a:ext cx="2057400" cy="713232"/>
          </a:xfrm>
          <a:prstGeom prst="roundRect">
            <a:avLst>
              <a:gd name="adj" fmla="val 12000"/>
            </a:avLst>
          </a:prstGeom>
          <a:solidFill>
            <a:srgbClr val="F2F4F7"/>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00" b="1" i="0">
                <a:solidFill>
                  <a:srgbClr val="101828"/>
                </a:solidFill>
                <a:latin typeface="Arial"/>
              </a:rPr>
              <a:t>Scenarios to measure it</a:t>
            </a:r>
          </a:p>
          <a:p>
            <a:pPr algn="ctr">
              <a:spcAft>
                <a:spcPts val="100"/>
              </a:spcAft>
            </a:pPr>
            <a:r>
              <a:rPr sz="850" b="0" i="0">
                <a:solidFill>
                  <a:srgbClr val="667085"/>
                </a:solidFill>
                <a:latin typeface="Arial"/>
              </a:rPr>
              <a:t>a labelled set, scored against a rules-only baseline</a:t>
            </a:r>
          </a:p>
        </p:txBody>
      </p:sp>
      <p:sp>
        <p:nvSpPr>
          <p:cNvPr id="186" name="Rounded Rectangle 185"/>
          <p:cNvSpPr/>
          <p:nvPr/>
        </p:nvSpPr>
        <p:spPr>
          <a:xfrm>
            <a:off x="274320" y="4206240"/>
            <a:ext cx="8595360" cy="457200"/>
          </a:xfrm>
          <a:prstGeom prst="roundRect">
            <a:avLst>
              <a:gd name="adj" fmla="val 12000"/>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050" b="1" i="0">
                <a:solidFill>
                  <a:srgbClr val="FFFFFF"/>
                </a:solidFill>
                <a:latin typeface="Arial"/>
              </a:rPr>
              <a:t>Any agent, in any system, asks first: POST /v1/authorize returns allow, escalate or block, with a signed receipt and an AP2 chain.</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